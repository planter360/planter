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7717568-cf56-1455-7422-b61833c36c21}">
          <p14:sldIdLst>
            <p14:sldId id="256"/>
          </p14:sldIdLst>
        </p14:section>
        <p14:section name="Problema i solució" id="{314f9599-5fd0-5520-ab9b-e534b56c87ab}">
          <p14:sldIdLst>
            <p14:sldId id="257"/>
            <p14:sldId id="258"/>
          </p14:sldIdLst>
        </p14:section>
        <p14:section name="Producte" id="{3e6d9834-ceb7-dd53-bd88-b3f44a031349}">
          <p14:sldIdLst>
            <p14:sldId id="259"/>
            <p14:sldId id="260"/>
          </p14:sldIdLst>
        </p14:section>
        <p14:section name="Mercat i negoci" id="{525efd18-31ca-52f2-9a50-affdffd9871f}">
          <p14:sldIdLst>
            <p14:sldId id="261"/>
            <p14:sldId id="262"/>
          </p14:sldIdLst>
        </p14:section>
        <p14:section name="Tracció i full de ruta" id="{d83ec133-8bac-45b5-20d5-418186204b6f}">
          <p14:sldIdLst>
            <p14:sldId id="263"/>
            <p14:sldId id="264"/>
          </p14:sldIdLst>
        </p14:section>
        <p14:section name="Equip i ronda" id="{1c63a56c-5c2b-c2c4-5a7f-2543135a7d36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Planter és un SaaS multi-club per a la gestió integral dels clubs esportius de base: quotes, plantilles, entrenaments, partits i comunicació amb les famílies, amb una vista diferent per a cada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 és el club de base: entitats petites, gestionades per voluntaris, que han de complir el RGPD amb dades de menors i que avui funcionen amb eines generalistes.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diferencial tècnic és el model de permisos: la seguretat per rol està implementada a la base de dades (row-level security), no a la interfície. Això és el que permet oferir accés directe a famílies amb dades de menors.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 el que es veu aquí està construït i desplegat: Next.js a Vercel i Supabase (Postgres) amb seguretat per files. El producte és multi-club, multiesport i funciona al mòbil.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Completa aquesta diapositiva amb la comparativa amb els competidors que identifiqueu al mercat.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Omple aquestes xifres amb dades oficials i cita la font a la diapositiva. Afegeix també el valor del mercat (clubs × preu mitjà anual) quan tingueu els preus definits.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Els noms dels plans ja existeixen al producte (pilot, starter, club, elit). Els preus i el que inclou cada pla s’han de definir abans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Afegeix-hi les mètriques reals de la beta abans de presentar: clubs, usuaris per rol i ús setmanal.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“Ara” és el que cal per llançar (ja documentat a la guia d’administrador). Ajusta “Després” segons la visió de l’equip.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Fundadors i persones clau, amb l’experiència rellevant en esport de base o en producte. Treu les targetes que sobrin.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Especifica l’import, l’instrument (SAFE, ampliació…) i en què s’invertirà: producte, comercial i operació.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548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PLANTER</a:t>
            </a: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600200"/>
            <a:ext cx="76809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3291840"/>
            <a:ext cx="76809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INGU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PLANTER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16002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 plataforma de gestió dels clubs de base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3291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Presentació per a inversors ·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Clubs gestionats amb eines prestades</a:t>
            </a:r>
            <a:endParaRPr lang="en-US" sz="2800" dirty="0"/>
          </a:p>
        </p:txBody>
      </p:sp>
      <p:sp>
        <p:nvSpPr>
          <p:cNvPr id="3" name="Problema 1"/>
          <p:cNvSpPr/>
          <p:nvPr/>
        </p:nvSpPr>
        <p:spPr>
          <a:xfrm>
            <a:off x="5486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Problema 1 ce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Problema 1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Gestió voluntària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Juntes i coordinadors que hi dediquen el temps que no tenen</a:t>
            </a:r>
            <a:endParaRPr lang="en-US" sz="1400" dirty="0"/>
          </a:p>
        </p:txBody>
      </p:sp>
      <p:sp>
        <p:nvSpPr>
          <p:cNvPr id="8" name="Problema 2"/>
          <p:cNvSpPr/>
          <p:nvPr/>
        </p:nvSpPr>
        <p:spPr>
          <a:xfrm>
            <a:off x="32918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9" name="Problema 2 cercle"/>
          <p:cNvSpPr/>
          <p:nvPr/>
        </p:nvSpPr>
        <p:spPr>
          <a:xfrm>
            <a:off x="3566160" y="16459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Problema 2 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181737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Eines disperses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WhatsApp, Excel i paper: res connectat, tot duplicat</a:t>
            </a:r>
            <a:endParaRPr lang="en-US" sz="1400" dirty="0"/>
          </a:p>
        </p:txBody>
      </p:sp>
      <p:sp>
        <p:nvSpPr>
          <p:cNvPr id="13" name="Problema 3"/>
          <p:cNvSpPr/>
          <p:nvPr/>
        </p:nvSpPr>
        <p:spPr>
          <a:xfrm>
            <a:off x="60350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4" name="Problema 3 cercle"/>
          <p:cNvSpPr/>
          <p:nvPr/>
        </p:nvSpPr>
        <p:spPr>
          <a:xfrm>
            <a:off x="6309360" y="16459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Problema 3 ic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81737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Dades de menors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Informació sensible fora de cap control d’accés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Una plataforma, quatre rols</a:t>
            </a:r>
            <a:endParaRPr lang="en-US" sz="2800" dirty="0"/>
          </a:p>
        </p:txBody>
      </p:sp>
      <p:sp>
        <p:nvSpPr>
          <p:cNvPr id="3" name="Connexió Direcció"/>
          <p:cNvSpPr/>
          <p:nvPr/>
        </p:nvSpPr>
        <p:spPr>
          <a:xfrm>
            <a:off x="1600200" y="1645920"/>
            <a:ext cx="2057400" cy="12801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4" name="Connexió Coordinació"/>
          <p:cNvSpPr/>
          <p:nvPr/>
        </p:nvSpPr>
        <p:spPr>
          <a:xfrm flipH="1">
            <a:off x="3657600" y="1645920"/>
            <a:ext cx="2103120" cy="12801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" name="Connexió Entrenadors"/>
          <p:cNvSpPr/>
          <p:nvPr/>
        </p:nvSpPr>
        <p:spPr>
          <a:xfrm flipH="1">
            <a:off x="1600200" y="2926080"/>
            <a:ext cx="2057400" cy="10515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Connexió Famílies"/>
          <p:cNvSpPr/>
          <p:nvPr/>
        </p:nvSpPr>
        <p:spPr>
          <a:xfrm>
            <a:off x="3657600" y="2926080"/>
            <a:ext cx="2103120" cy="10515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Rol Direcció"/>
          <p:cNvSpPr/>
          <p:nvPr/>
        </p:nvSpPr>
        <p:spPr>
          <a:xfrm>
            <a:off x="548640" y="1325880"/>
            <a:ext cx="210312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325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Direcció</a:t>
            </a:r>
            <a:endParaRPr lang="en-US" sz="1600" dirty="0"/>
          </a:p>
        </p:txBody>
      </p:sp>
      <p:sp>
        <p:nvSpPr>
          <p:cNvPr id="9" name="Rol Coordinació"/>
          <p:cNvSpPr/>
          <p:nvPr/>
        </p:nvSpPr>
        <p:spPr>
          <a:xfrm>
            <a:off x="4709160" y="1325880"/>
            <a:ext cx="210312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325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Coordinació</a:t>
            </a:r>
            <a:endParaRPr lang="en-US" sz="1600" dirty="0"/>
          </a:p>
        </p:txBody>
      </p:sp>
      <p:sp>
        <p:nvSpPr>
          <p:cNvPr id="11" name="Rol Entrenadors"/>
          <p:cNvSpPr/>
          <p:nvPr/>
        </p:nvSpPr>
        <p:spPr>
          <a:xfrm>
            <a:off x="548640" y="3657600"/>
            <a:ext cx="210312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Entrenadors</a:t>
            </a:r>
            <a:endParaRPr lang="en-US" sz="1600" dirty="0"/>
          </a:p>
        </p:txBody>
      </p:sp>
      <p:sp>
        <p:nvSpPr>
          <p:cNvPr id="13" name="Rol Famílies"/>
          <p:cNvSpPr/>
          <p:nvPr/>
        </p:nvSpPr>
        <p:spPr>
          <a:xfrm>
            <a:off x="4709160" y="3657600"/>
            <a:ext cx="2103120" cy="640080"/>
          </a:xfrm>
          <a:prstGeom prst="roundRect">
            <a:avLst>
              <a:gd name="adj" fmla="val 17143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Famílies</a:t>
            </a:r>
            <a:endParaRPr lang="en-US" sz="1600" dirty="0"/>
          </a:p>
        </p:txBody>
      </p:sp>
      <p:sp>
        <p:nvSpPr>
          <p:cNvPr id="15" name="Planter"/>
          <p:cNvSpPr/>
          <p:nvPr/>
        </p:nvSpPr>
        <p:spPr>
          <a:xfrm>
            <a:off x="3063240" y="2331720"/>
            <a:ext cx="1188720" cy="11887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63240" y="2331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2103120"/>
            <a:ext cx="1508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Una sola font de veritat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rol hi veu una vista diferent de les mateixes dades. Els permisos els aplica la base de dades.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Producte funcional, en beta</a:t>
            </a:r>
            <a:endParaRPr lang="en-US" sz="2800" dirty="0"/>
          </a:p>
        </p:txBody>
      </p:sp>
      <p:sp>
        <p:nvSpPr>
          <p:cNvPr id="3" name="Mòdul Visió 360"/>
          <p:cNvSpPr/>
          <p:nvPr/>
        </p:nvSpPr>
        <p:spPr>
          <a:xfrm>
            <a:off x="548640" y="123444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" name="Mòdul Visió 360 cercle"/>
          <p:cNvSpPr/>
          <p:nvPr/>
        </p:nvSpPr>
        <p:spPr>
          <a:xfrm>
            <a:off x="749808" y="1453896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òdul Visió 360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586484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Visió 360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Calendari setmanal per rol</a:t>
            </a:r>
            <a:endParaRPr lang="en-US" sz="1200" dirty="0"/>
          </a:p>
        </p:txBody>
      </p:sp>
      <p:sp>
        <p:nvSpPr>
          <p:cNvPr id="8" name="Mòdul Plantilles"/>
          <p:cNvSpPr/>
          <p:nvPr/>
        </p:nvSpPr>
        <p:spPr>
          <a:xfrm>
            <a:off x="3291840" y="123444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9" name="Mòdul Plantilles cercle"/>
          <p:cNvSpPr/>
          <p:nvPr/>
        </p:nvSpPr>
        <p:spPr>
          <a:xfrm>
            <a:off x="3493008" y="1453896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Mòdul Plantilles 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1586484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17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Plantilles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16052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Fitxa i historial d’equips</a:t>
            </a:r>
            <a:endParaRPr lang="en-US" sz="1200" dirty="0"/>
          </a:p>
        </p:txBody>
      </p:sp>
      <p:sp>
        <p:nvSpPr>
          <p:cNvPr id="13" name="Mòdul Entrenaments"/>
          <p:cNvSpPr/>
          <p:nvPr/>
        </p:nvSpPr>
        <p:spPr>
          <a:xfrm>
            <a:off x="6035040" y="1234440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4" name="Mòdul Entrenaments cercle"/>
          <p:cNvSpPr/>
          <p:nvPr/>
        </p:nvSpPr>
        <p:spPr>
          <a:xfrm>
            <a:off x="6236208" y="1453896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Mòdul Entrenaments ic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1586484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417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Entrenaments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372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Horaris i assistència</a:t>
            </a:r>
            <a:endParaRPr lang="en-US" sz="1200" dirty="0"/>
          </a:p>
        </p:txBody>
      </p:sp>
      <p:sp>
        <p:nvSpPr>
          <p:cNvPr id="18" name="Mòdul Partits"/>
          <p:cNvSpPr/>
          <p:nvPr/>
        </p:nvSpPr>
        <p:spPr>
          <a:xfrm>
            <a:off x="548640" y="2350008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Mòdul Partits cercle"/>
          <p:cNvSpPr/>
          <p:nvPr/>
        </p:nvSpPr>
        <p:spPr>
          <a:xfrm>
            <a:off x="749808" y="2569464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Mòdul Partits 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270205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25328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Partits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Convocatòries i resultats</a:t>
            </a:r>
            <a:endParaRPr lang="en-US" sz="1200" dirty="0"/>
          </a:p>
        </p:txBody>
      </p:sp>
      <p:sp>
        <p:nvSpPr>
          <p:cNvPr id="23" name="Mòdul Pagaments"/>
          <p:cNvSpPr/>
          <p:nvPr/>
        </p:nvSpPr>
        <p:spPr>
          <a:xfrm>
            <a:off x="3291840" y="2350008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Mòdul Pagaments cercle"/>
          <p:cNvSpPr/>
          <p:nvPr/>
        </p:nvSpPr>
        <p:spPr>
          <a:xfrm>
            <a:off x="3493008" y="2569464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Mòdul Pagaments ic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596" y="2702052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25328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Pagaments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160520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Rebuts amb avís a famílies</a:t>
            </a:r>
            <a:endParaRPr lang="en-US" sz="1200" dirty="0"/>
          </a:p>
        </p:txBody>
      </p:sp>
      <p:sp>
        <p:nvSpPr>
          <p:cNvPr id="28" name="Mòdul Comunicacions"/>
          <p:cNvSpPr/>
          <p:nvPr/>
        </p:nvSpPr>
        <p:spPr>
          <a:xfrm>
            <a:off x="6035040" y="2350008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9" name="Mòdul Comunicacions cercle"/>
          <p:cNvSpPr/>
          <p:nvPr/>
        </p:nvSpPr>
        <p:spPr>
          <a:xfrm>
            <a:off x="6236208" y="2569464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Mòdul Comunicacions icon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796" y="2702052"/>
            <a:ext cx="265176" cy="26517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03720" y="25328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Comunicacions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903720" y="28529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Segmentades per equip</a:t>
            </a:r>
            <a:endParaRPr lang="en-US" sz="1200" dirty="0"/>
          </a:p>
        </p:txBody>
      </p:sp>
      <p:sp>
        <p:nvSpPr>
          <p:cNvPr id="33" name="Mòdul Potencial"/>
          <p:cNvSpPr/>
          <p:nvPr/>
        </p:nvSpPr>
        <p:spPr>
          <a:xfrm>
            <a:off x="548640" y="3465576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4" name="Mòdul Potencial cercle"/>
          <p:cNvSpPr/>
          <p:nvPr/>
        </p:nvSpPr>
        <p:spPr>
          <a:xfrm>
            <a:off x="749808" y="368503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Mòdul Potencial icon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" y="3817620"/>
            <a:ext cx="265176" cy="26517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417320" y="36484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Potencial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1417320" y="3968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Valoració i evolució</a:t>
            </a:r>
            <a:endParaRPr lang="en-US" sz="1200" dirty="0"/>
          </a:p>
        </p:txBody>
      </p:sp>
      <p:sp>
        <p:nvSpPr>
          <p:cNvPr id="38" name="Mòdul Scouting"/>
          <p:cNvSpPr/>
          <p:nvPr/>
        </p:nvSpPr>
        <p:spPr>
          <a:xfrm>
            <a:off x="3291840" y="3465576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39" name="Mòdul Scouting cercle"/>
          <p:cNvSpPr/>
          <p:nvPr/>
        </p:nvSpPr>
        <p:spPr>
          <a:xfrm>
            <a:off x="3493008" y="368503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Mòdul Scouting icona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5596" y="3817620"/>
            <a:ext cx="265176" cy="26517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160520" y="36484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Scouting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160520" y="3968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Seguiment i plans de partit</a:t>
            </a:r>
            <a:endParaRPr lang="en-US" sz="1200" dirty="0"/>
          </a:p>
        </p:txBody>
      </p:sp>
      <p:sp>
        <p:nvSpPr>
          <p:cNvPr id="43" name="Mòdul Instal·lacions"/>
          <p:cNvSpPr/>
          <p:nvPr/>
        </p:nvSpPr>
        <p:spPr>
          <a:xfrm>
            <a:off x="6035040" y="3465576"/>
            <a:ext cx="25603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44" name="Mòdul Instal·lacions cercle"/>
          <p:cNvSpPr/>
          <p:nvPr/>
        </p:nvSpPr>
        <p:spPr>
          <a:xfrm>
            <a:off x="6236208" y="368503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Mòdul Instal·lacions icona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8796" y="3817620"/>
            <a:ext cx="265176" cy="265176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903720" y="36484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Instal·lacions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6903720" y="3968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Ocupació setmanal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Què ens fa diferents</a:t>
            </a:r>
            <a:endParaRPr lang="en-US" sz="2800" dirty="0"/>
          </a:p>
        </p:txBody>
      </p:sp>
      <p:sp>
        <p:nvSpPr>
          <p:cNvPr id="3" name="Diferencial 1 cercle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Diferencial 1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49733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4416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Seguretat per rol a la base de dades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Base per obrir l’accés a famílies amb dades de menors</a:t>
            </a:r>
            <a:endParaRPr lang="en-US" sz="1600" dirty="0"/>
          </a:p>
        </p:txBody>
      </p:sp>
      <p:sp>
        <p:nvSpPr>
          <p:cNvPr id="6" name="Diferencial 2 cercle"/>
          <p:cNvSpPr/>
          <p:nvPr/>
        </p:nvSpPr>
        <p:spPr>
          <a:xfrm>
            <a:off x="4709160" y="13258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Diferencial 2 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1497330"/>
            <a:ext cx="342900" cy="3429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134416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Multiesport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Futbol, bàsquet, handbol, vòlei, futsal i hoquei</a:t>
            </a:r>
            <a:endParaRPr lang="en-US" sz="1600" dirty="0"/>
          </a:p>
        </p:txBody>
      </p:sp>
      <p:sp>
        <p:nvSpPr>
          <p:cNvPr id="9" name="Diferencial 3 cercle"/>
          <p:cNvSpPr/>
          <p:nvPr/>
        </p:nvSpPr>
        <p:spPr>
          <a:xfrm>
            <a:off x="548640" y="2926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Diferencial 3 ic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097530"/>
            <a:ext cx="342900" cy="3429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294436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Co-marca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Cada club amb el seu logo i color, també als correus</a:t>
            </a:r>
            <a:endParaRPr lang="en-US" sz="1600" dirty="0"/>
          </a:p>
        </p:txBody>
      </p:sp>
      <p:sp>
        <p:nvSpPr>
          <p:cNvPr id="12" name="Diferencial 4 cercle"/>
          <p:cNvSpPr/>
          <p:nvPr/>
        </p:nvSpPr>
        <p:spPr>
          <a:xfrm>
            <a:off x="4709160" y="29260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Diferencial 4 ic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10" y="3097530"/>
            <a:ext cx="342900" cy="3429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623560" y="2944368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Pensat per a voluntaris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Sense contrasenyes, al mòbil, alta massiva de jugadors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Mida del mercat</a:t>
            </a:r>
            <a:endParaRPr lang="en-US" sz="2800" dirty="0"/>
          </a:p>
        </p:txBody>
      </p:sp>
      <p:sp>
        <p:nvSpPr>
          <p:cNvPr id="3" name="Mercat 1"/>
          <p:cNvSpPr/>
          <p:nvPr/>
        </p:nvSpPr>
        <p:spPr>
          <a:xfrm>
            <a:off x="548640" y="137160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[Pendent: xifra]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Clubs esportius a Catalunya</a:t>
            </a:r>
            <a:endParaRPr lang="en-US" sz="1500" dirty="0"/>
          </a:p>
        </p:txBody>
      </p:sp>
      <p:sp>
        <p:nvSpPr>
          <p:cNvPr id="6" name="Mercat 2"/>
          <p:cNvSpPr/>
          <p:nvPr/>
        </p:nvSpPr>
        <p:spPr>
          <a:xfrm>
            <a:off x="3291840" y="137160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[Pendent: xifra]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Clubs esportius a Espanya</a:t>
            </a:r>
            <a:endParaRPr lang="en-US" sz="1500" dirty="0"/>
          </a:p>
        </p:txBody>
      </p:sp>
      <p:sp>
        <p:nvSpPr>
          <p:cNvPr id="9" name="Mercat 3"/>
          <p:cNvSpPr/>
          <p:nvPr/>
        </p:nvSpPr>
        <p:spPr>
          <a:xfrm>
            <a:off x="6035040" y="1371600"/>
            <a:ext cx="251460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691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[Pendent: xifra]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Esportistes en edat escolar federats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[Pendent: fonts: Consell Català de l’Esport, Consejo Superior de Deportes]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Subscripció per club</a:t>
            </a:r>
            <a:endParaRPr lang="en-US" sz="2800" dirty="0"/>
          </a:p>
        </p:txBody>
      </p:sp>
      <p:sp>
        <p:nvSpPr>
          <p:cNvPr id="3" name="Pla Pilot"/>
          <p:cNvSpPr/>
          <p:nvPr/>
        </p:nvSpPr>
        <p:spPr>
          <a:xfrm>
            <a:off x="548640" y="132588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accent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Pilot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Gratuït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Clubs pilot durant la beta</a:t>
            </a:r>
            <a:endParaRPr lang="en-US" sz="1300" dirty="0"/>
          </a:p>
        </p:txBody>
      </p:sp>
      <p:sp>
        <p:nvSpPr>
          <p:cNvPr id="7" name="Pla Starter"/>
          <p:cNvSpPr/>
          <p:nvPr/>
        </p:nvSpPr>
        <p:spPr>
          <a:xfrm>
            <a:off x="2624328" y="132588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52928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852928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[Pendent: preu]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Clubs petits</a:t>
            </a:r>
            <a:endParaRPr lang="en-US" sz="1300" dirty="0"/>
          </a:p>
        </p:txBody>
      </p:sp>
      <p:sp>
        <p:nvSpPr>
          <p:cNvPr id="11" name="Pla Club"/>
          <p:cNvSpPr/>
          <p:nvPr/>
        </p:nvSpPr>
        <p:spPr>
          <a:xfrm>
            <a:off x="4700016" y="132588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28616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Club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928616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[Pendent: preu]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28616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Clubs amb diverses seccions</a:t>
            </a:r>
            <a:endParaRPr lang="en-US" sz="1300" dirty="0"/>
          </a:p>
        </p:txBody>
      </p:sp>
      <p:sp>
        <p:nvSpPr>
          <p:cNvPr id="15" name="Pla Elit"/>
          <p:cNvSpPr/>
          <p:nvPr/>
        </p:nvSpPr>
        <p:spPr>
          <a:xfrm>
            <a:off x="6775704" y="132588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04304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Elit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04304" y="2011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[Pendent: preu]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04304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Clubs grans</a:t>
            </a:r>
            <a:endParaRPr lang="en-US" sz="1300" dirty="0"/>
          </a:p>
        </p:txBody>
      </p:sp>
      <p:sp>
        <p:nvSpPr>
          <p:cNvPr id="19" name="Ingrés addicional cercle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ngrés addicional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8620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8016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Ingrés addicional previst: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comissió pel cobrament de quotes en línia. Hipòtesi a validar amb els clubs pilot.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On som avui</a:t>
            </a:r>
            <a:endParaRPr lang="en-US" sz="2800" dirty="0"/>
          </a:p>
        </p:txBody>
      </p:sp>
      <p:sp>
        <p:nvSpPr>
          <p:cNvPr id="3" name="Línia temporal"/>
          <p:cNvSpPr/>
          <p:nvPr/>
        </p:nvSpPr>
        <p:spPr>
          <a:xfrm>
            <a:off x="822960" y="1965960"/>
            <a:ext cx="6309360" cy="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</p:sp>
      <p:sp>
        <p:nvSpPr>
          <p:cNvPr id="4" name="Fita 1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Base multi-club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Rols, permisos i seguretat de dades</a:t>
            </a:r>
            <a:endParaRPr lang="en-US" sz="1400" dirty="0"/>
          </a:p>
        </p:txBody>
      </p:sp>
      <p:sp>
        <p:nvSpPr>
          <p:cNvPr id="7" name="Fita 2"/>
          <p:cNvSpPr/>
          <p:nvPr/>
        </p:nvSpPr>
        <p:spPr>
          <a:xfrm>
            <a:off x="2743200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9 mòduls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9260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Del calendari al cobrament de quotes</a:t>
            </a:r>
            <a:endParaRPr lang="en-US" sz="1400" dirty="0"/>
          </a:p>
        </p:txBody>
      </p:sp>
      <p:sp>
        <p:nvSpPr>
          <p:cNvPr id="10" name="Fita 3"/>
          <p:cNvSpPr/>
          <p:nvPr/>
        </p:nvSpPr>
        <p:spPr>
          <a:xfrm>
            <a:off x="4846320" y="1691640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Beta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9260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En proves amb un club pilot</a:t>
            </a:r>
            <a:endParaRPr lang="en-US" sz="1400" dirty="0"/>
          </a:p>
        </p:txBody>
      </p:sp>
      <p:sp>
        <p:nvSpPr>
          <p:cNvPr id="13" name="Fita 4"/>
          <p:cNvSpPr/>
          <p:nvPr/>
        </p:nvSpPr>
        <p:spPr>
          <a:xfrm>
            <a:off x="6949440" y="1691640"/>
            <a:ext cx="548640" cy="54864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Llançament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92608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Domini propi i primers clubs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[Pendent: nombre de clubs pilot, usuaris actius i cartes d’interès]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Full de ruta</a:t>
            </a:r>
            <a:endParaRPr lang="en-US" sz="2800" dirty="0"/>
          </a:p>
        </p:txBody>
      </p:sp>
      <p:sp>
        <p:nvSpPr>
          <p:cNvPr id="3" name="Etapa Ara"/>
          <p:cNvSpPr/>
          <p:nvPr/>
        </p:nvSpPr>
        <p:spPr>
          <a:xfrm>
            <a:off x="5486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ARA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Llançament amb domini propi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Correu transaccional del club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Primers clubs de pagament</a:t>
            </a:r>
            <a:endParaRPr lang="en-US" sz="1400" dirty="0"/>
          </a:p>
        </p:txBody>
      </p:sp>
      <p:sp>
        <p:nvSpPr>
          <p:cNvPr id="6" name="Etapa Pròxim"/>
          <p:cNvSpPr/>
          <p:nvPr/>
        </p:nvSpPr>
        <p:spPr>
          <a:xfrm>
            <a:off x="32918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661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PRÒXIM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01168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Cobrament de quotes en línia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Autoservei: alta de clubs i usuaris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Subscripció i facturació</a:t>
            </a:r>
            <a:endParaRPr lang="en-US" sz="1400" dirty="0"/>
          </a:p>
        </p:txBody>
      </p:sp>
      <p:sp>
        <p:nvSpPr>
          <p:cNvPr id="9" name="Etapa Després"/>
          <p:cNvSpPr/>
          <p:nvPr/>
        </p:nvSpPr>
        <p:spPr>
          <a:xfrm>
            <a:off x="60350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1554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DESPRÉS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01168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Més clubs i territoris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Informes per a direcció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3"/>
                </a:solidFill>
              </a:rPr>
              <a:t>[Pendent: prioritats a definir]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Equip</a:t>
            </a:r>
            <a:endParaRPr lang="en-US" sz="2800" dirty="0"/>
          </a:p>
        </p:txBody>
      </p:sp>
      <p:sp>
        <p:nvSpPr>
          <p:cNvPr id="3" name="Persona 1"/>
          <p:cNvSpPr/>
          <p:nvPr/>
        </p:nvSpPr>
        <p:spPr>
          <a:xfrm>
            <a:off x="5486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4" name="Persona 1 cercle"/>
          <p:cNvSpPr/>
          <p:nvPr/>
        </p:nvSpPr>
        <p:spPr>
          <a:xfrm>
            <a:off x="1417320" y="16459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Persona 1 ic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1630" y="184023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[Pendent: nom]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08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[Pendent: rol i trajectòria]</a:t>
            </a:r>
            <a:endParaRPr lang="en-US" sz="1300" dirty="0"/>
          </a:p>
        </p:txBody>
      </p:sp>
      <p:sp>
        <p:nvSpPr>
          <p:cNvPr id="8" name="Persona 2"/>
          <p:cNvSpPr/>
          <p:nvPr/>
        </p:nvSpPr>
        <p:spPr>
          <a:xfrm>
            <a:off x="32918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9" name="Persona 2 cercle"/>
          <p:cNvSpPr/>
          <p:nvPr/>
        </p:nvSpPr>
        <p:spPr>
          <a:xfrm>
            <a:off x="4160520" y="16459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Persona 2 ic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184023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[Pendent: nom]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108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[Pendent: rol i trajectòria]</a:t>
            </a:r>
            <a:endParaRPr lang="en-US" sz="1300" dirty="0"/>
          </a:p>
        </p:txBody>
      </p:sp>
      <p:sp>
        <p:nvSpPr>
          <p:cNvPr id="13" name="Persona 3"/>
          <p:cNvSpPr/>
          <p:nvPr/>
        </p:nvSpPr>
        <p:spPr>
          <a:xfrm>
            <a:off x="6035040" y="1325880"/>
            <a:ext cx="2514600" cy="301752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4" name="Persona 3 cercle"/>
          <p:cNvSpPr/>
          <p:nvPr/>
        </p:nvSpPr>
        <p:spPr>
          <a:xfrm>
            <a:off x="6903720" y="164592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Persona 3 ic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030" y="184023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697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[Pendent: nom]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10896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[Pendent: rol i trajectòria]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16002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Volem créixer amb vosaltres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3291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[Pendent: import de la ronda i ús dels fons]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hola.planter@gmail.com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anter">
  <a:themeElements>
    <a:clrScheme name="Planter">
      <a:dk1>
        <a:srgbClr val="0F1E17"/>
      </a:dk1>
      <a:lt1>
        <a:srgbClr val="FFFFFF"/>
      </a:lt1>
      <a:dk2>
        <a:srgbClr val="16211A"/>
      </a:dk2>
      <a:lt2>
        <a:srgbClr val="F3F5F0"/>
      </a:lt2>
      <a:accent1>
        <a:srgbClr val="2E9E5B"/>
      </a:accent1>
      <a:accent2>
        <a:srgbClr val="4FCB80"/>
      </a:accent2>
      <a:accent3>
        <a:srgbClr val="E39A2E"/>
      </a:accent3>
      <a:accent4>
        <a:srgbClr val="D65050"/>
      </a:accent4>
      <a:accent5>
        <a:srgbClr val="5D6B61"/>
      </a:accent5>
      <a:accent6>
        <a:srgbClr val="E8F4EC"/>
      </a:accent6>
      <a:hlink>
        <a:srgbClr val="237744"/>
      </a:hlink>
      <a:folHlink>
        <a:srgbClr val="237744"/>
      </a:folHlink>
    </a:clrScheme>
    <a:fontScheme name="Plant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Planter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Planter · Presentació per a inversors</dc:title>
  <dc:subject>Presentació per a inversors</dc:subject>
  <dc:creator>Planter</dc:creator>
  <cp:lastModifiedBy>Planter</cp:lastModifiedBy>
  <cp:revision>1</cp:revision>
  <dcterms:created xsi:type="dcterms:W3CDTF">2026-10-10T11:15:13Z</dcterms:created>
  <dcterms:modified xsi:type="dcterms:W3CDTF">2026-10-10T11:15:13Z</dcterms:modified>
</cp:coreProperties>
</file>