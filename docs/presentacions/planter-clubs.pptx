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26113534-f33e-2aff-9fcc-3775e986d0d6}">
          <p14:sldIdLst>
            <p14:sldId id="256"/>
          </p14:sldIdLst>
        </p14:section>
        <p14:section name="El repte" id="{66eb527b-6d4b-956f-fce6-f85e6785f473}">
          <p14:sldIdLst>
            <p14:sldId id="257"/>
          </p14:sldIdLst>
        </p14:section>
        <p14:section name="La solució" id="{4be0e659-9469-a44e-8d56-3bec429c88d0}">
          <p14:sldIdLst>
            <p14:sldId id="258"/>
            <p14:sldId id="259"/>
          </p14:sldIdLst>
        </p14:section>
        <p14:section name="Per a cada rol" id="{53073941-3252-0fb0-2cc9-a8759102f7b3}">
          <p14:sldIdLst>
            <p14:sldId id="260"/>
            <p14:sldId id="261"/>
            <p14:sldId id="262"/>
          </p14:sldIdLst>
        </p14:section>
        <p14:section name="Confiança" id="{012aa1df-cf91-d19b-dbfc-53f7c508eb21}">
          <p14:sldIdLst>
            <p14:sldId id="263"/>
          </p14:sldIdLst>
        </p14:section>
        <p14:section name="Com comencem" id="{12010786-9af2-98ac-406b-e1bc7c484ff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Planter és la plataforma de gestió per a clubs esportius de base. Avui us expliquem com us pot estalviar hores de feina a la direcció, als coordinadors i als entrenadors, i com manté les famílies informades sense grups de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Aquests són els quatre problemes que ens repeteixen tots els clubs: la comunicació es perd als grups de WhatsApp, les quotes viuen en un Excel, l’assistència es passa en paper i les dades dels menors queden escampades.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sola plataforma amb quatre vistes. La seguretat no depèn de la pantalla: és la base de dades qui decideix què pot veure cada rol, així que una família mai no veurà dades d’un altre jugador.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Visió 360 és la pantalla d’inici. Cada rol hi veu la seva setmana: la direcció tot el club, el coordinador la seva secció, l’entrenador els seus equips i la família els equips dels seus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L’entrenador és qui més temps hi passa, i és qui menys temps té. Per això tot està pensat per fer-se des del mòbil i en pocs tocs.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famílies entren amb el seu correu, sense contrasenyes, i només veuen la informació dels seus fills. Quan el club emet un rebut o convoca un partit, ho saben al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direcció veu l’estat de les quotes de tot el club en temps real. El pagament en línia (targeta, Bizum, domiciliació) és la següent fase. Les xifres d’aquesta diapositiva són només un exemple.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Planter tracta dades de menors. Per això la protecció no és una opció de pantalla: cada consulta passa per les regles de la base de dades, i una persona només pot llegir la informació del seu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club pot estar funcionant en una tarda: creem el club, el coordinador dona d’alta els equips i enganxa la llista de jugadors, i les invitacions als entrenadors i a les famílies surten des de la mateixa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 la fase pilot el club té accés a totes les funcionalitats sense cost. Els preus dels plans de pagament encara s’han de definir: no els comprometis a la reunió.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502920" cy="502920"/>
          </a:xfrm>
          <a:prstGeom prst="rect">
            <a:avLst/>
          </a:prstGeom>
        </p:spPr>
      </p:pic>
      <p:sp>
        <p:nvSpPr>
          <p:cNvPr id="3" name="Text 0"/>
          <p:cNvSpPr/>
          <p:nvPr/>
        </p:nvSpPr>
        <p:spPr>
          <a:xfrm>
            <a:off x="1143000" y="548640"/>
            <a:ext cx="2743200" cy="411480"/>
          </a:xfrm>
          <a:prstGeom prst="rect">
            <a:avLst/>
          </a:prstGeom>
          <a:noFill/>
          <a:ln/>
        </p:spPr>
        <p:txBody>
          <a:bodyPr wrap="square" lIns="0" tIns="0" rIns="0" bIns="0" rtlCol="0" anchor="ctr"/>
          <a:lstStyle/>
          <a:p>
            <a:pPr indent="0" marL="0">
              <a:buNone/>
            </a:pPr>
            <a:r>
              <a:rPr lang="en-US" sz="1600" b="1" spc="200" kern="0" dirty="0">
                <a:solidFill>
                  <a:schemeClr val="bg1"/>
                </a:solidFill>
                <a:latin typeface="Arial" pitchFamily="34" charset="0"/>
                <a:ea typeface="Arial" pitchFamily="34" charset="-122"/>
                <a:cs typeface="Arial" pitchFamily="34" charset="-120"/>
              </a:rPr>
              <a:t>PLANTER</a:t>
            </a:r>
            <a:endParaRPr lang="en-US" sz="1600" dirty="0"/>
          </a:p>
        </p:txBody>
      </p:sp>
      <p:sp>
        <p:nvSpPr>
          <p:cNvPr id="4" name="Text 1"/>
          <p:cNvSpPr/>
          <p:nvPr>
            <p:ph idx="102" type="title" hasCustomPrompt="1"/>
          </p:nvPr>
        </p:nvSpPr>
        <p:spPr>
          <a:xfrm>
            <a:off x="548640" y="1600200"/>
            <a:ext cx="768096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ph idx="103" type="body" hasCustomPrompt="1"/>
          </p:nvPr>
        </p:nvSpPr>
        <p:spPr>
          <a:xfrm>
            <a:off x="548640" y="3291840"/>
            <a:ext cx="7680960" cy="1005840"/>
          </a:xfrm>
          <a:prstGeom prst="rect">
            <a:avLst/>
          </a:prstGeom>
          <a:noFill/>
          <a:ln/>
        </p:spPr>
        <p:txBody>
          <a:bodyPr wrap="square" rtlCol="0"/>
          <a:lstStyle>
            <a:lvl1pPr algn="l" indent="0" marL="0">
              <a:buNone/>
              <a:defRPr lang="en-US" sz="1600" dirty="0">
                <a:solidFill>
                  <a:schemeClr val="accent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INGU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4754880"/>
            <a:ext cx="1828800" cy="228600"/>
          </a:xfrm>
          <a:prstGeom prst="rect">
            <a:avLst/>
          </a:prstGeom>
          <a:noFill/>
          <a:ln/>
        </p:spPr>
        <p:txBody>
          <a:bodyPr wrap="square" lIns="0" tIns="0" rIns="0" bIns="0" rtlCol="0" anchor="ctr"/>
          <a:lstStyle/>
          <a:p>
            <a:pPr indent="0" marL="0">
              <a:buNone/>
            </a:pPr>
            <a:r>
              <a:rPr lang="en-US" sz="900" b="1" spc="200" kern="0" dirty="0">
                <a:solidFill>
                  <a:schemeClr val="accent5"/>
                </a:solidFill>
                <a:latin typeface="Arial" pitchFamily="34" charset="0"/>
                <a:ea typeface="Arial" pitchFamily="34" charset="-122"/>
                <a:cs typeface="Arial" pitchFamily="34" charset="-120"/>
              </a:rPr>
              <a:t>PLANTER</a:t>
            </a:r>
            <a:endParaRPr lang="en-US" sz="900" dirty="0"/>
          </a:p>
        </p:txBody>
      </p:sp>
      <p:sp>
        <p:nvSpPr>
          <p:cNvPr id="3" name="Text 1"/>
          <p:cNvSpPr/>
          <p:nvPr>
            <p:ph idx="101" type="title" hasCustomPrompt="1"/>
          </p:nvPr>
        </p:nvSpPr>
        <p:spPr>
          <a:xfrm>
            <a:off x="548640" y="365760"/>
            <a:ext cx="804672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1600200"/>
            <a:ext cx="7680960" cy="1554480"/>
          </a:xfrm>
          <a:prstGeom prst="rect">
            <a:avLst/>
          </a:prstGeom>
          <a:noFill/>
          <a:ln/>
        </p:spPr>
        <p:txBody>
          <a:bodyPr wrap="square" lIns="0" tIns="0" rIns="0" bIns="0" rtlCol="0" anchor="b"/>
          <a:lstStyle/>
          <a:p>
            <a:pPr algn="l" indent="0" marL="0">
              <a:buNone/>
            </a:pPr>
            <a:r>
              <a:rPr lang="en-US" sz="4000" b="1" dirty="0">
                <a:solidFill>
                  <a:schemeClr val="bg1"/>
                </a:solidFill>
              </a:rPr>
              <a:t>La visió 360 del teu club</a:t>
            </a:r>
            <a:endParaRPr lang="en-US" sz="4000" dirty="0"/>
          </a:p>
        </p:txBody>
      </p:sp>
      <p:sp>
        <p:nvSpPr>
          <p:cNvPr id="3" name="Text 1"/>
          <p:cNvSpPr/>
          <p:nvPr>
            <p:ph idx="103" type="body" hasCustomPrompt="1"/>
          </p:nvPr>
        </p:nvSpPr>
        <p:spPr>
          <a:xfrm>
            <a:off x="548640" y="3291840"/>
            <a:ext cx="7680960" cy="1005840"/>
          </a:xfrm>
          <a:prstGeom prst="rect">
            <a:avLst/>
          </a:prstGeom>
          <a:noFill/>
          <a:ln/>
        </p:spPr>
        <p:txBody>
          <a:bodyPr wrap="square" lIns="0" tIns="0" rIns="0" bIns="0" rtlCol="0" anchor="t"/>
          <a:lstStyle/>
          <a:p>
            <a:pPr algn="l" indent="0" marL="0">
              <a:buNone/>
            </a:pPr>
            <a:r>
              <a:rPr lang="en-US" sz="1600" dirty="0">
                <a:solidFill>
                  <a:schemeClr val="accent2"/>
                </a:solidFill>
              </a:rPr>
              <a:t>Quotes, plantilles, entrenaments, partits i famílies, en un sol lloc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El dia a dia del club, repartit en massa llocs</a:t>
            </a:r>
            <a:endParaRPr lang="en-US" sz="2800" dirty="0"/>
          </a:p>
        </p:txBody>
      </p:sp>
      <p:sp>
        <p:nvSpPr>
          <p:cNvPr id="3" name="Problema 1"/>
          <p:cNvSpPr/>
          <p:nvPr/>
        </p:nvSpPr>
        <p:spPr>
          <a:xfrm>
            <a:off x="548640" y="1280160"/>
            <a:ext cx="3886200" cy="1463040"/>
          </a:xfrm>
          <a:prstGeom prst="roundRect">
            <a:avLst>
              <a:gd name="adj" fmla="val 7500"/>
            </a:avLst>
          </a:prstGeom>
          <a:solidFill>
            <a:schemeClr val="bg2"/>
          </a:solidFill>
          <a:ln/>
        </p:spPr>
      </p:sp>
      <p:sp>
        <p:nvSpPr>
          <p:cNvPr id="4" name="Problema 1 cercle"/>
          <p:cNvSpPr/>
          <p:nvPr/>
        </p:nvSpPr>
        <p:spPr>
          <a:xfrm>
            <a:off x="822960" y="1572768"/>
            <a:ext cx="548640" cy="548640"/>
          </a:xfrm>
          <a:prstGeom prst="ellipse">
            <a:avLst/>
          </a:prstGeom>
          <a:solidFill>
            <a:schemeClr val="accent4"/>
          </a:solidFill>
          <a:ln/>
        </p:spPr>
      </p:sp>
      <p:pic>
        <p:nvPicPr>
          <p:cNvPr id="5" name="Problema 1 icona" descr="preencoded.png">    </p:cNvPr>
          <p:cNvPicPr>
            <a:picLocks noChangeAspect="1"/>
          </p:cNvPicPr>
          <p:nvPr/>
        </p:nvPicPr>
        <p:blipFill>
          <a:blip r:embed="rId1"/>
          <a:stretch>
            <a:fillRect/>
          </a:stretch>
        </p:blipFill>
        <p:spPr>
          <a:xfrm>
            <a:off x="960120" y="1709928"/>
            <a:ext cx="274320" cy="274320"/>
          </a:xfrm>
          <a:prstGeom prst="rect">
            <a:avLst/>
          </a:prstGeom>
        </p:spPr>
      </p:pic>
      <p:sp>
        <p:nvSpPr>
          <p:cNvPr id="6" name="Text 3"/>
          <p:cNvSpPr txBox="1"/>
          <p:nvPr/>
        </p:nvSpPr>
        <p:spPr>
          <a:xfrm>
            <a:off x="1572768" y="1554480"/>
            <a:ext cx="2651760" cy="365760"/>
          </a:xfrm>
          <a:prstGeom prst="rect">
            <a:avLst/>
          </a:prstGeom>
          <a:noFill/>
          <a:ln/>
        </p:spPr>
        <p:txBody>
          <a:bodyPr wrap="square" lIns="0" tIns="0" rIns="0" bIns="0" rtlCol="0" anchor="t"/>
          <a:lstStyle/>
          <a:p>
            <a:pPr indent="0" marL="0">
              <a:buNone/>
            </a:pPr>
            <a:r>
              <a:rPr lang="en-US" sz="1600" b="1" dirty="0">
                <a:solidFill>
                  <a:schemeClr val="tx1"/>
                </a:solidFill>
              </a:rPr>
              <a:t>Grups de WhatsApp</a:t>
            </a:r>
            <a:endParaRPr lang="en-US" sz="1600" dirty="0"/>
          </a:p>
        </p:txBody>
      </p:sp>
      <p:sp>
        <p:nvSpPr>
          <p:cNvPr id="7" name="Text 4"/>
          <p:cNvSpPr txBox="1"/>
          <p:nvPr/>
        </p:nvSpPr>
        <p:spPr>
          <a:xfrm>
            <a:off x="1572768" y="1938528"/>
            <a:ext cx="2651760" cy="685800"/>
          </a:xfrm>
          <a:prstGeom prst="rect">
            <a:avLst/>
          </a:prstGeom>
          <a:noFill/>
          <a:ln/>
        </p:spPr>
        <p:txBody>
          <a:bodyPr wrap="square" lIns="0" tIns="0" rIns="0" bIns="0" rtlCol="0" anchor="t"/>
          <a:lstStyle/>
          <a:p>
            <a:pPr indent="0" marL="0">
              <a:buNone/>
            </a:pPr>
            <a:r>
              <a:rPr lang="en-US" sz="1400" dirty="0">
                <a:solidFill>
                  <a:schemeClr val="accent5"/>
                </a:solidFill>
              </a:rPr>
              <a:t>Avisos que es perden entre missatges i famílies que pregunten el mateix cada setmana</a:t>
            </a:r>
            <a:endParaRPr lang="en-US" sz="1400" dirty="0"/>
          </a:p>
        </p:txBody>
      </p:sp>
      <p:sp>
        <p:nvSpPr>
          <p:cNvPr id="8" name="Problema 2"/>
          <p:cNvSpPr/>
          <p:nvPr/>
        </p:nvSpPr>
        <p:spPr>
          <a:xfrm>
            <a:off x="4709160" y="1280160"/>
            <a:ext cx="3886200" cy="1463040"/>
          </a:xfrm>
          <a:prstGeom prst="roundRect">
            <a:avLst>
              <a:gd name="adj" fmla="val 7500"/>
            </a:avLst>
          </a:prstGeom>
          <a:solidFill>
            <a:schemeClr val="bg2"/>
          </a:solidFill>
          <a:ln/>
        </p:spPr>
      </p:sp>
      <p:sp>
        <p:nvSpPr>
          <p:cNvPr id="9" name="Problema 2 cercle"/>
          <p:cNvSpPr/>
          <p:nvPr/>
        </p:nvSpPr>
        <p:spPr>
          <a:xfrm>
            <a:off x="4983480" y="1572768"/>
            <a:ext cx="548640" cy="548640"/>
          </a:xfrm>
          <a:prstGeom prst="ellipse">
            <a:avLst/>
          </a:prstGeom>
          <a:solidFill>
            <a:schemeClr val="accent4"/>
          </a:solidFill>
          <a:ln/>
        </p:spPr>
      </p:sp>
      <p:pic>
        <p:nvPicPr>
          <p:cNvPr id="10" name="Problema 2 icona" descr="preencoded.png">    </p:cNvPr>
          <p:cNvPicPr>
            <a:picLocks noChangeAspect="1"/>
          </p:cNvPicPr>
          <p:nvPr/>
        </p:nvPicPr>
        <p:blipFill>
          <a:blip r:embed="rId2"/>
          <a:stretch>
            <a:fillRect/>
          </a:stretch>
        </p:blipFill>
        <p:spPr>
          <a:xfrm>
            <a:off x="5120640" y="1709928"/>
            <a:ext cx="274320" cy="274320"/>
          </a:xfrm>
          <a:prstGeom prst="rect">
            <a:avLst/>
          </a:prstGeom>
        </p:spPr>
      </p:pic>
      <p:sp>
        <p:nvSpPr>
          <p:cNvPr id="11" name="Text 7"/>
          <p:cNvSpPr txBox="1"/>
          <p:nvPr/>
        </p:nvSpPr>
        <p:spPr>
          <a:xfrm>
            <a:off x="5733288" y="1554480"/>
            <a:ext cx="2651760" cy="365760"/>
          </a:xfrm>
          <a:prstGeom prst="rect">
            <a:avLst/>
          </a:prstGeom>
          <a:noFill/>
          <a:ln/>
        </p:spPr>
        <p:txBody>
          <a:bodyPr wrap="square" lIns="0" tIns="0" rIns="0" bIns="0" rtlCol="0" anchor="t"/>
          <a:lstStyle/>
          <a:p>
            <a:pPr indent="0" marL="0">
              <a:buNone/>
            </a:pPr>
            <a:r>
              <a:rPr lang="en-US" sz="1600" b="1" dirty="0">
                <a:solidFill>
                  <a:schemeClr val="tx1"/>
                </a:solidFill>
              </a:rPr>
              <a:t>Quotes en un Excel</a:t>
            </a:r>
            <a:endParaRPr lang="en-US" sz="1600" dirty="0"/>
          </a:p>
        </p:txBody>
      </p:sp>
      <p:sp>
        <p:nvSpPr>
          <p:cNvPr id="12" name="Text 8"/>
          <p:cNvSpPr txBox="1"/>
          <p:nvPr/>
        </p:nvSpPr>
        <p:spPr>
          <a:xfrm>
            <a:off x="5733288" y="1938528"/>
            <a:ext cx="2651760" cy="685800"/>
          </a:xfrm>
          <a:prstGeom prst="rect">
            <a:avLst/>
          </a:prstGeom>
          <a:noFill/>
          <a:ln/>
        </p:spPr>
        <p:txBody>
          <a:bodyPr wrap="square" lIns="0" tIns="0" rIns="0" bIns="0" rtlCol="0" anchor="t"/>
          <a:lstStyle/>
          <a:p>
            <a:pPr indent="0" marL="0">
              <a:buNone/>
            </a:pPr>
            <a:r>
              <a:rPr lang="en-US" sz="1400" dirty="0">
                <a:solidFill>
                  <a:schemeClr val="accent5"/>
                </a:solidFill>
              </a:rPr>
              <a:t>Qui ha pagat, qui no, i reclamar-ho una vegada i una altra</a:t>
            </a:r>
            <a:endParaRPr lang="en-US" sz="1400" dirty="0"/>
          </a:p>
        </p:txBody>
      </p:sp>
      <p:sp>
        <p:nvSpPr>
          <p:cNvPr id="13" name="Problema 3"/>
          <p:cNvSpPr/>
          <p:nvPr/>
        </p:nvSpPr>
        <p:spPr>
          <a:xfrm>
            <a:off x="548640" y="2971800"/>
            <a:ext cx="3886200" cy="1463040"/>
          </a:xfrm>
          <a:prstGeom prst="roundRect">
            <a:avLst>
              <a:gd name="adj" fmla="val 7500"/>
            </a:avLst>
          </a:prstGeom>
          <a:solidFill>
            <a:schemeClr val="bg2"/>
          </a:solidFill>
          <a:ln/>
        </p:spPr>
      </p:sp>
      <p:sp>
        <p:nvSpPr>
          <p:cNvPr id="14" name="Problema 3 cercle"/>
          <p:cNvSpPr/>
          <p:nvPr/>
        </p:nvSpPr>
        <p:spPr>
          <a:xfrm>
            <a:off x="822960" y="3264408"/>
            <a:ext cx="548640" cy="548640"/>
          </a:xfrm>
          <a:prstGeom prst="ellipse">
            <a:avLst/>
          </a:prstGeom>
          <a:solidFill>
            <a:schemeClr val="accent4"/>
          </a:solidFill>
          <a:ln/>
        </p:spPr>
      </p:sp>
      <p:pic>
        <p:nvPicPr>
          <p:cNvPr id="15" name="Problema 3 icona" descr="preencoded.png">    </p:cNvPr>
          <p:cNvPicPr>
            <a:picLocks noChangeAspect="1"/>
          </p:cNvPicPr>
          <p:nvPr/>
        </p:nvPicPr>
        <p:blipFill>
          <a:blip r:embed="rId3"/>
          <a:stretch>
            <a:fillRect/>
          </a:stretch>
        </p:blipFill>
        <p:spPr>
          <a:xfrm>
            <a:off x="960120" y="3401568"/>
            <a:ext cx="274320" cy="274320"/>
          </a:xfrm>
          <a:prstGeom prst="rect">
            <a:avLst/>
          </a:prstGeom>
        </p:spPr>
      </p:pic>
      <p:sp>
        <p:nvSpPr>
          <p:cNvPr id="16" name="Text 11"/>
          <p:cNvSpPr txBox="1"/>
          <p:nvPr/>
        </p:nvSpPr>
        <p:spPr>
          <a:xfrm>
            <a:off x="1572768" y="3246120"/>
            <a:ext cx="2651760" cy="365760"/>
          </a:xfrm>
          <a:prstGeom prst="rect">
            <a:avLst/>
          </a:prstGeom>
          <a:noFill/>
          <a:ln/>
        </p:spPr>
        <p:txBody>
          <a:bodyPr wrap="square" lIns="0" tIns="0" rIns="0" bIns="0" rtlCol="0" anchor="t"/>
          <a:lstStyle/>
          <a:p>
            <a:pPr indent="0" marL="0">
              <a:buNone/>
            </a:pPr>
            <a:r>
              <a:rPr lang="en-US" sz="1600" b="1" dirty="0">
                <a:solidFill>
                  <a:schemeClr val="tx1"/>
                </a:solidFill>
              </a:rPr>
              <a:t>Llistes en paper</a:t>
            </a:r>
            <a:endParaRPr lang="en-US" sz="1600" dirty="0"/>
          </a:p>
        </p:txBody>
      </p:sp>
      <p:sp>
        <p:nvSpPr>
          <p:cNvPr id="17" name="Text 12"/>
          <p:cNvSpPr txBox="1"/>
          <p:nvPr/>
        </p:nvSpPr>
        <p:spPr>
          <a:xfrm>
            <a:off x="1572768" y="3630168"/>
            <a:ext cx="2651760" cy="685800"/>
          </a:xfrm>
          <a:prstGeom prst="rect">
            <a:avLst/>
          </a:prstGeom>
          <a:noFill/>
          <a:ln/>
        </p:spPr>
        <p:txBody>
          <a:bodyPr wrap="square" lIns="0" tIns="0" rIns="0" bIns="0" rtlCol="0" anchor="t"/>
          <a:lstStyle/>
          <a:p>
            <a:pPr indent="0" marL="0">
              <a:buNone/>
            </a:pPr>
            <a:r>
              <a:rPr lang="en-US" sz="1400" dirty="0">
                <a:solidFill>
                  <a:schemeClr val="accent5"/>
                </a:solidFill>
              </a:rPr>
              <a:t>Assistència i convocatòries que no queden enlloc</a:t>
            </a:r>
            <a:endParaRPr lang="en-US" sz="1400" dirty="0"/>
          </a:p>
        </p:txBody>
      </p:sp>
      <p:sp>
        <p:nvSpPr>
          <p:cNvPr id="18" name="Problema 4"/>
          <p:cNvSpPr/>
          <p:nvPr/>
        </p:nvSpPr>
        <p:spPr>
          <a:xfrm>
            <a:off x="4709160" y="2971800"/>
            <a:ext cx="3886200" cy="1463040"/>
          </a:xfrm>
          <a:prstGeom prst="roundRect">
            <a:avLst>
              <a:gd name="adj" fmla="val 7500"/>
            </a:avLst>
          </a:prstGeom>
          <a:solidFill>
            <a:schemeClr val="bg2"/>
          </a:solidFill>
          <a:ln/>
        </p:spPr>
      </p:sp>
      <p:sp>
        <p:nvSpPr>
          <p:cNvPr id="19" name="Problema 4 cercle"/>
          <p:cNvSpPr/>
          <p:nvPr/>
        </p:nvSpPr>
        <p:spPr>
          <a:xfrm>
            <a:off x="4983480" y="3264408"/>
            <a:ext cx="548640" cy="548640"/>
          </a:xfrm>
          <a:prstGeom prst="ellipse">
            <a:avLst/>
          </a:prstGeom>
          <a:solidFill>
            <a:schemeClr val="accent4"/>
          </a:solidFill>
          <a:ln/>
        </p:spPr>
      </p:sp>
      <p:pic>
        <p:nvPicPr>
          <p:cNvPr id="20" name="Problema 4 icona" descr="preencoded.png">    </p:cNvPr>
          <p:cNvPicPr>
            <a:picLocks noChangeAspect="1"/>
          </p:cNvPicPr>
          <p:nvPr/>
        </p:nvPicPr>
        <p:blipFill>
          <a:blip r:embed="rId4"/>
          <a:stretch>
            <a:fillRect/>
          </a:stretch>
        </p:blipFill>
        <p:spPr>
          <a:xfrm>
            <a:off x="5120640" y="3401568"/>
            <a:ext cx="274320" cy="274320"/>
          </a:xfrm>
          <a:prstGeom prst="rect">
            <a:avLst/>
          </a:prstGeom>
        </p:spPr>
      </p:pic>
      <p:sp>
        <p:nvSpPr>
          <p:cNvPr id="21" name="Text 15"/>
          <p:cNvSpPr txBox="1"/>
          <p:nvPr/>
        </p:nvSpPr>
        <p:spPr>
          <a:xfrm>
            <a:off x="5733288" y="3246120"/>
            <a:ext cx="2651760" cy="365760"/>
          </a:xfrm>
          <a:prstGeom prst="rect">
            <a:avLst/>
          </a:prstGeom>
          <a:noFill/>
          <a:ln/>
        </p:spPr>
        <p:txBody>
          <a:bodyPr wrap="square" lIns="0" tIns="0" rIns="0" bIns="0" rtlCol="0" anchor="t"/>
          <a:lstStyle/>
          <a:p>
            <a:pPr indent="0" marL="0">
              <a:buNone/>
            </a:pPr>
            <a:r>
              <a:rPr lang="en-US" sz="1600" b="1" dirty="0">
                <a:solidFill>
                  <a:schemeClr val="tx1"/>
                </a:solidFill>
              </a:rPr>
              <a:t>Dades de menors</a:t>
            </a:r>
            <a:endParaRPr lang="en-US" sz="1600" dirty="0"/>
          </a:p>
        </p:txBody>
      </p:sp>
      <p:sp>
        <p:nvSpPr>
          <p:cNvPr id="22" name="Text 16"/>
          <p:cNvSpPr txBox="1"/>
          <p:nvPr/>
        </p:nvSpPr>
        <p:spPr>
          <a:xfrm>
            <a:off x="5733288" y="3630168"/>
            <a:ext cx="2651760" cy="685800"/>
          </a:xfrm>
          <a:prstGeom prst="rect">
            <a:avLst/>
          </a:prstGeom>
          <a:noFill/>
          <a:ln/>
        </p:spPr>
        <p:txBody>
          <a:bodyPr wrap="square" lIns="0" tIns="0" rIns="0" bIns="0" rtlCol="0" anchor="t"/>
          <a:lstStyle/>
          <a:p>
            <a:pPr indent="0" marL="0">
              <a:buNone/>
            </a:pPr>
            <a:r>
              <a:rPr lang="en-US" sz="1400" dirty="0">
                <a:solidFill>
                  <a:schemeClr val="accent5"/>
                </a:solidFill>
              </a:rPr>
              <a:t>Informació sensible escampada entre mòbils i fulls de càlcul</a:t>
            </a:r>
            <a:endParaRPr lang="en-US" sz="14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Cada persona hi veu exactament el que li toca</a:t>
            </a:r>
            <a:endParaRPr lang="en-US" sz="2800" dirty="0"/>
          </a:p>
        </p:txBody>
      </p:sp>
      <p:sp>
        <p:nvSpPr>
          <p:cNvPr id="3" name="Rol Direcció"/>
          <p:cNvSpPr/>
          <p:nvPr/>
        </p:nvSpPr>
        <p:spPr>
          <a:xfrm>
            <a:off x="548640" y="1280160"/>
            <a:ext cx="1828800" cy="3200400"/>
          </a:xfrm>
          <a:prstGeom prst="roundRect">
            <a:avLst>
              <a:gd name="adj" fmla="val 6000"/>
            </a:avLst>
          </a:prstGeom>
          <a:solidFill>
            <a:schemeClr val="bg2"/>
          </a:solidFill>
          <a:ln/>
        </p:spPr>
      </p:sp>
      <p:sp>
        <p:nvSpPr>
          <p:cNvPr id="4" name="Rol Direcció cercle"/>
          <p:cNvSpPr/>
          <p:nvPr/>
        </p:nvSpPr>
        <p:spPr>
          <a:xfrm>
            <a:off x="822960" y="1554480"/>
            <a:ext cx="594360" cy="594360"/>
          </a:xfrm>
          <a:prstGeom prst="ellipse">
            <a:avLst/>
          </a:prstGeom>
          <a:solidFill>
            <a:schemeClr val="accent1"/>
          </a:solidFill>
          <a:ln/>
        </p:spPr>
      </p:sp>
      <p:pic>
        <p:nvPicPr>
          <p:cNvPr id="5" name="Rol Direcció icona" descr="preencoded.png">    </p:cNvPr>
          <p:cNvPicPr>
            <a:picLocks noChangeAspect="1"/>
          </p:cNvPicPr>
          <p:nvPr/>
        </p:nvPicPr>
        <p:blipFill>
          <a:blip r:embed="rId1"/>
          <a:stretch>
            <a:fillRect/>
          </a:stretch>
        </p:blipFill>
        <p:spPr>
          <a:xfrm>
            <a:off x="971550" y="1703070"/>
            <a:ext cx="297180" cy="297180"/>
          </a:xfrm>
          <a:prstGeom prst="rect">
            <a:avLst/>
          </a:prstGeom>
        </p:spPr>
      </p:pic>
      <p:sp>
        <p:nvSpPr>
          <p:cNvPr id="6" name="Text 3"/>
          <p:cNvSpPr txBox="1"/>
          <p:nvPr/>
        </p:nvSpPr>
        <p:spPr>
          <a:xfrm>
            <a:off x="822960" y="2331720"/>
            <a:ext cx="1371600" cy="365760"/>
          </a:xfrm>
          <a:prstGeom prst="rect">
            <a:avLst/>
          </a:prstGeom>
          <a:noFill/>
          <a:ln/>
        </p:spPr>
        <p:txBody>
          <a:bodyPr wrap="square" lIns="0" tIns="0" rIns="0" bIns="0" rtlCol="0" anchor="t"/>
          <a:lstStyle/>
          <a:p>
            <a:pPr indent="0" marL="0">
              <a:buNone/>
            </a:pPr>
            <a:r>
              <a:rPr lang="en-US" sz="1700" b="1" dirty="0">
                <a:solidFill>
                  <a:schemeClr val="tx1"/>
                </a:solidFill>
              </a:rPr>
              <a:t>Direcció</a:t>
            </a:r>
            <a:endParaRPr lang="en-US" sz="1700" dirty="0"/>
          </a:p>
        </p:txBody>
      </p:sp>
      <p:sp>
        <p:nvSpPr>
          <p:cNvPr id="7" name="Text 4"/>
          <p:cNvSpPr txBox="1"/>
          <p:nvPr/>
        </p:nvSpPr>
        <p:spPr>
          <a:xfrm>
            <a:off x="822960" y="2788920"/>
            <a:ext cx="14630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accent5"/>
                </a:solidFill>
              </a:rPr>
              <a:t>Quotes i rebuts</a:t>
            </a:r>
            <a:endParaRPr lang="en-US" sz="1400" dirty="0"/>
          </a:p>
          <a:p>
            <a:pPr marL="177800" indent="-177800">
              <a:spcAft>
                <a:spcPts val="600"/>
              </a:spcAft>
              <a:buSzPct val="100000"/>
              <a:buChar char="•"/>
            </a:pPr>
            <a:r>
              <a:rPr lang="en-US" sz="1400" dirty="0">
                <a:solidFill>
                  <a:schemeClr val="accent5"/>
                </a:solidFill>
              </a:rPr>
              <a:t>Comunicats al club</a:t>
            </a:r>
            <a:endParaRPr lang="en-US" sz="1400" dirty="0"/>
          </a:p>
          <a:p>
            <a:pPr marL="177800" indent="-177800">
              <a:spcAft>
                <a:spcPts val="600"/>
              </a:spcAft>
              <a:buSzPct val="100000"/>
              <a:buChar char="•"/>
            </a:pPr>
            <a:r>
              <a:rPr lang="en-US" sz="1400" dirty="0">
                <a:solidFill>
                  <a:schemeClr val="accent5"/>
                </a:solidFill>
              </a:rPr>
              <a:t>Marca del club</a:t>
            </a:r>
            <a:endParaRPr lang="en-US" sz="1400" dirty="0"/>
          </a:p>
        </p:txBody>
      </p:sp>
      <p:sp>
        <p:nvSpPr>
          <p:cNvPr id="8" name="Rol Coordinació"/>
          <p:cNvSpPr/>
          <p:nvPr/>
        </p:nvSpPr>
        <p:spPr>
          <a:xfrm>
            <a:off x="2624328" y="1280160"/>
            <a:ext cx="1828800" cy="3200400"/>
          </a:xfrm>
          <a:prstGeom prst="roundRect">
            <a:avLst>
              <a:gd name="adj" fmla="val 6000"/>
            </a:avLst>
          </a:prstGeom>
          <a:solidFill>
            <a:schemeClr val="bg2"/>
          </a:solidFill>
          <a:ln/>
        </p:spPr>
      </p:sp>
      <p:sp>
        <p:nvSpPr>
          <p:cNvPr id="9" name="Rol Coordinació cercle"/>
          <p:cNvSpPr/>
          <p:nvPr/>
        </p:nvSpPr>
        <p:spPr>
          <a:xfrm>
            <a:off x="2898648" y="1554480"/>
            <a:ext cx="594360" cy="594360"/>
          </a:xfrm>
          <a:prstGeom prst="ellipse">
            <a:avLst/>
          </a:prstGeom>
          <a:solidFill>
            <a:schemeClr val="accent1"/>
          </a:solidFill>
          <a:ln/>
        </p:spPr>
      </p:sp>
      <p:pic>
        <p:nvPicPr>
          <p:cNvPr id="10" name="Rol Coordinació icona" descr="preencoded.png">    </p:cNvPr>
          <p:cNvPicPr>
            <a:picLocks noChangeAspect="1"/>
          </p:cNvPicPr>
          <p:nvPr/>
        </p:nvPicPr>
        <p:blipFill>
          <a:blip r:embed="rId2"/>
          <a:stretch>
            <a:fillRect/>
          </a:stretch>
        </p:blipFill>
        <p:spPr>
          <a:xfrm>
            <a:off x="3047238" y="1703070"/>
            <a:ext cx="297180" cy="297180"/>
          </a:xfrm>
          <a:prstGeom prst="rect">
            <a:avLst/>
          </a:prstGeom>
        </p:spPr>
      </p:pic>
      <p:sp>
        <p:nvSpPr>
          <p:cNvPr id="11" name="Text 7"/>
          <p:cNvSpPr txBox="1"/>
          <p:nvPr/>
        </p:nvSpPr>
        <p:spPr>
          <a:xfrm>
            <a:off x="2898648" y="2331720"/>
            <a:ext cx="1371600" cy="365760"/>
          </a:xfrm>
          <a:prstGeom prst="rect">
            <a:avLst/>
          </a:prstGeom>
          <a:noFill/>
          <a:ln/>
        </p:spPr>
        <p:txBody>
          <a:bodyPr wrap="square" lIns="0" tIns="0" rIns="0" bIns="0" rtlCol="0" anchor="t"/>
          <a:lstStyle/>
          <a:p>
            <a:pPr indent="0" marL="0">
              <a:buNone/>
            </a:pPr>
            <a:r>
              <a:rPr lang="en-US" sz="1700" b="1" dirty="0">
                <a:solidFill>
                  <a:schemeClr val="tx1"/>
                </a:solidFill>
              </a:rPr>
              <a:t>Coordinació</a:t>
            </a:r>
            <a:endParaRPr lang="en-US" sz="1700" dirty="0"/>
          </a:p>
        </p:txBody>
      </p:sp>
      <p:sp>
        <p:nvSpPr>
          <p:cNvPr id="12" name="Text 8"/>
          <p:cNvSpPr txBox="1"/>
          <p:nvPr/>
        </p:nvSpPr>
        <p:spPr>
          <a:xfrm>
            <a:off x="2898648" y="2788920"/>
            <a:ext cx="14630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accent5"/>
                </a:solidFill>
              </a:rPr>
              <a:t>Equips i entrenadors</a:t>
            </a:r>
            <a:endParaRPr lang="en-US" sz="1400" dirty="0"/>
          </a:p>
          <a:p>
            <a:pPr marL="177800" indent="-177800">
              <a:spcAft>
                <a:spcPts val="600"/>
              </a:spcAft>
              <a:buSzPct val="100000"/>
              <a:buChar char="•"/>
            </a:pPr>
            <a:r>
              <a:rPr lang="en-US" sz="1400" dirty="0">
                <a:solidFill>
                  <a:schemeClr val="accent5"/>
                </a:solidFill>
              </a:rPr>
              <a:t>Instal·lacions</a:t>
            </a:r>
            <a:endParaRPr lang="en-US" sz="1400" dirty="0"/>
          </a:p>
          <a:p>
            <a:pPr marL="177800" indent="-177800">
              <a:spcAft>
                <a:spcPts val="600"/>
              </a:spcAft>
              <a:buSzPct val="100000"/>
              <a:buChar char="•"/>
            </a:pPr>
            <a:r>
              <a:rPr lang="en-US" sz="1400" dirty="0">
                <a:solidFill>
                  <a:schemeClr val="accent5"/>
                </a:solidFill>
              </a:rPr>
              <a:t>Visió de la secció</a:t>
            </a:r>
            <a:endParaRPr lang="en-US" sz="1400" dirty="0"/>
          </a:p>
        </p:txBody>
      </p:sp>
      <p:sp>
        <p:nvSpPr>
          <p:cNvPr id="13" name="Rol Entrenadors"/>
          <p:cNvSpPr/>
          <p:nvPr/>
        </p:nvSpPr>
        <p:spPr>
          <a:xfrm>
            <a:off x="4700016" y="1280160"/>
            <a:ext cx="1828800" cy="3200400"/>
          </a:xfrm>
          <a:prstGeom prst="roundRect">
            <a:avLst>
              <a:gd name="adj" fmla="val 6000"/>
            </a:avLst>
          </a:prstGeom>
          <a:solidFill>
            <a:schemeClr val="bg2"/>
          </a:solidFill>
          <a:ln/>
        </p:spPr>
      </p:sp>
      <p:sp>
        <p:nvSpPr>
          <p:cNvPr id="14" name="Rol Entrenadors cercle"/>
          <p:cNvSpPr/>
          <p:nvPr/>
        </p:nvSpPr>
        <p:spPr>
          <a:xfrm>
            <a:off x="4974336" y="1554480"/>
            <a:ext cx="594360" cy="594360"/>
          </a:xfrm>
          <a:prstGeom prst="ellipse">
            <a:avLst/>
          </a:prstGeom>
          <a:solidFill>
            <a:schemeClr val="accent1"/>
          </a:solidFill>
          <a:ln/>
        </p:spPr>
      </p:sp>
      <p:pic>
        <p:nvPicPr>
          <p:cNvPr id="15" name="Rol Entrenadors icona" descr="preencoded.png">    </p:cNvPr>
          <p:cNvPicPr>
            <a:picLocks noChangeAspect="1"/>
          </p:cNvPicPr>
          <p:nvPr/>
        </p:nvPicPr>
        <p:blipFill>
          <a:blip r:embed="rId3"/>
          <a:stretch>
            <a:fillRect/>
          </a:stretch>
        </p:blipFill>
        <p:spPr>
          <a:xfrm>
            <a:off x="5122926" y="1703070"/>
            <a:ext cx="297180" cy="297180"/>
          </a:xfrm>
          <a:prstGeom prst="rect">
            <a:avLst/>
          </a:prstGeom>
        </p:spPr>
      </p:pic>
      <p:sp>
        <p:nvSpPr>
          <p:cNvPr id="16" name="Text 11"/>
          <p:cNvSpPr txBox="1"/>
          <p:nvPr/>
        </p:nvSpPr>
        <p:spPr>
          <a:xfrm>
            <a:off x="4974336" y="2331720"/>
            <a:ext cx="1371600" cy="365760"/>
          </a:xfrm>
          <a:prstGeom prst="rect">
            <a:avLst/>
          </a:prstGeom>
          <a:noFill/>
          <a:ln/>
        </p:spPr>
        <p:txBody>
          <a:bodyPr wrap="square" lIns="0" tIns="0" rIns="0" bIns="0" rtlCol="0" anchor="t"/>
          <a:lstStyle/>
          <a:p>
            <a:pPr indent="0" marL="0">
              <a:buNone/>
            </a:pPr>
            <a:r>
              <a:rPr lang="en-US" sz="1700" b="1" dirty="0">
                <a:solidFill>
                  <a:schemeClr val="tx1"/>
                </a:solidFill>
              </a:rPr>
              <a:t>Entrenadors</a:t>
            </a:r>
            <a:endParaRPr lang="en-US" sz="1700" dirty="0"/>
          </a:p>
        </p:txBody>
      </p:sp>
      <p:sp>
        <p:nvSpPr>
          <p:cNvPr id="17" name="Text 12"/>
          <p:cNvSpPr txBox="1"/>
          <p:nvPr/>
        </p:nvSpPr>
        <p:spPr>
          <a:xfrm>
            <a:off x="4974336" y="2788920"/>
            <a:ext cx="14630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accent5"/>
                </a:solidFill>
              </a:rPr>
              <a:t>Passar llista</a:t>
            </a:r>
            <a:endParaRPr lang="en-US" sz="1400" dirty="0"/>
          </a:p>
          <a:p>
            <a:pPr marL="177800" indent="-177800">
              <a:spcAft>
                <a:spcPts val="600"/>
              </a:spcAft>
              <a:buSzPct val="100000"/>
              <a:buChar char="•"/>
            </a:pPr>
            <a:r>
              <a:rPr lang="en-US" sz="1400" dirty="0">
                <a:solidFill>
                  <a:schemeClr val="accent5"/>
                </a:solidFill>
              </a:rPr>
              <a:t>Convocatòries</a:t>
            </a:r>
            <a:endParaRPr lang="en-US" sz="1400" dirty="0"/>
          </a:p>
          <a:p>
            <a:pPr marL="177800" indent="-177800">
              <a:spcAft>
                <a:spcPts val="600"/>
              </a:spcAft>
              <a:buSzPct val="100000"/>
              <a:buChar char="•"/>
            </a:pPr>
            <a:r>
              <a:rPr lang="en-US" sz="1400" dirty="0">
                <a:solidFill>
                  <a:schemeClr val="accent5"/>
                </a:solidFill>
              </a:rPr>
              <a:t>Valoracions</a:t>
            </a:r>
            <a:endParaRPr lang="en-US" sz="1400" dirty="0"/>
          </a:p>
        </p:txBody>
      </p:sp>
      <p:sp>
        <p:nvSpPr>
          <p:cNvPr id="18" name="Rol Famílies"/>
          <p:cNvSpPr/>
          <p:nvPr/>
        </p:nvSpPr>
        <p:spPr>
          <a:xfrm>
            <a:off x="6775704" y="1280160"/>
            <a:ext cx="1828800" cy="3200400"/>
          </a:xfrm>
          <a:prstGeom prst="roundRect">
            <a:avLst>
              <a:gd name="adj" fmla="val 6000"/>
            </a:avLst>
          </a:prstGeom>
          <a:solidFill>
            <a:schemeClr val="bg2"/>
          </a:solidFill>
          <a:ln/>
        </p:spPr>
      </p:sp>
      <p:sp>
        <p:nvSpPr>
          <p:cNvPr id="19" name="Rol Famílies cercle"/>
          <p:cNvSpPr/>
          <p:nvPr/>
        </p:nvSpPr>
        <p:spPr>
          <a:xfrm>
            <a:off x="7050024" y="1554480"/>
            <a:ext cx="594360" cy="594360"/>
          </a:xfrm>
          <a:prstGeom prst="ellipse">
            <a:avLst/>
          </a:prstGeom>
          <a:solidFill>
            <a:schemeClr val="accent1"/>
          </a:solidFill>
          <a:ln/>
        </p:spPr>
      </p:sp>
      <p:pic>
        <p:nvPicPr>
          <p:cNvPr id="20" name="Rol Famílies icona" descr="preencoded.png">    </p:cNvPr>
          <p:cNvPicPr>
            <a:picLocks noChangeAspect="1"/>
          </p:cNvPicPr>
          <p:nvPr/>
        </p:nvPicPr>
        <p:blipFill>
          <a:blip r:embed="rId4"/>
          <a:stretch>
            <a:fillRect/>
          </a:stretch>
        </p:blipFill>
        <p:spPr>
          <a:xfrm>
            <a:off x="7198614" y="1703070"/>
            <a:ext cx="297180" cy="297180"/>
          </a:xfrm>
          <a:prstGeom prst="rect">
            <a:avLst/>
          </a:prstGeom>
        </p:spPr>
      </p:pic>
      <p:sp>
        <p:nvSpPr>
          <p:cNvPr id="21" name="Text 15"/>
          <p:cNvSpPr txBox="1"/>
          <p:nvPr/>
        </p:nvSpPr>
        <p:spPr>
          <a:xfrm>
            <a:off x="7050024" y="2331720"/>
            <a:ext cx="1371600" cy="365760"/>
          </a:xfrm>
          <a:prstGeom prst="rect">
            <a:avLst/>
          </a:prstGeom>
          <a:noFill/>
          <a:ln/>
        </p:spPr>
        <p:txBody>
          <a:bodyPr wrap="square" lIns="0" tIns="0" rIns="0" bIns="0" rtlCol="0" anchor="t"/>
          <a:lstStyle/>
          <a:p>
            <a:pPr indent="0" marL="0">
              <a:buNone/>
            </a:pPr>
            <a:r>
              <a:rPr lang="en-US" sz="1700" b="1" dirty="0">
                <a:solidFill>
                  <a:schemeClr val="tx1"/>
                </a:solidFill>
              </a:rPr>
              <a:t>Famílies</a:t>
            </a:r>
            <a:endParaRPr lang="en-US" sz="1700" dirty="0"/>
          </a:p>
        </p:txBody>
      </p:sp>
      <p:sp>
        <p:nvSpPr>
          <p:cNvPr id="22" name="Text 16"/>
          <p:cNvSpPr txBox="1"/>
          <p:nvPr/>
        </p:nvSpPr>
        <p:spPr>
          <a:xfrm>
            <a:off x="7050024" y="2788920"/>
            <a:ext cx="14630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accent5"/>
                </a:solidFill>
              </a:rPr>
              <a:t>Horaris i partits</a:t>
            </a:r>
            <a:endParaRPr lang="en-US" sz="1400" dirty="0"/>
          </a:p>
          <a:p>
            <a:pPr marL="177800" indent="-177800">
              <a:spcAft>
                <a:spcPts val="600"/>
              </a:spcAft>
              <a:buSzPct val="100000"/>
              <a:buChar char="•"/>
            </a:pPr>
            <a:r>
              <a:rPr lang="en-US" sz="1400" dirty="0">
                <a:solidFill>
                  <a:schemeClr val="accent5"/>
                </a:solidFill>
              </a:rPr>
              <a:t>Rebuts</a:t>
            </a:r>
            <a:endParaRPr lang="en-US" sz="1400" dirty="0"/>
          </a:p>
          <a:p>
            <a:pPr marL="177800" indent="-177800">
              <a:spcAft>
                <a:spcPts val="600"/>
              </a:spcAft>
              <a:buSzPct val="100000"/>
              <a:buChar char="•"/>
            </a:pPr>
            <a:r>
              <a:rPr lang="en-US" sz="1400" dirty="0">
                <a:solidFill>
                  <a:schemeClr val="accent5"/>
                </a:solidFill>
              </a:rPr>
              <a:t>Comunicats</a:t>
            </a:r>
            <a:endParaRPr lang="en-US" sz="14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La setmana del club, d’un cop d’ull</a:t>
            </a:r>
            <a:endParaRPr lang="en-US" sz="2800" dirty="0"/>
          </a:p>
        </p:txBody>
      </p:sp>
      <p:sp>
        <p:nvSpPr>
          <p:cNvPr id="3" name="Text 1"/>
          <p:cNvSpPr txBox="1"/>
          <p:nvPr/>
        </p:nvSpPr>
        <p:spPr>
          <a:xfrm>
            <a:off x="548640" y="1371600"/>
            <a:ext cx="3566160" cy="2743200"/>
          </a:xfrm>
          <a:prstGeom prst="rect">
            <a:avLst/>
          </a:prstGeom>
          <a:noFill/>
          <a:ln/>
        </p:spPr>
        <p:txBody>
          <a:bodyPr wrap="square" lIns="0" tIns="0" rIns="0" bIns="0" rtlCol="0" anchor="t"/>
          <a:lstStyle/>
          <a:p>
            <a:pPr indent="0" marL="0">
              <a:spcAft>
                <a:spcPts val="1400"/>
              </a:spcAft>
              <a:buNone/>
            </a:pPr>
            <a:r>
              <a:rPr lang="en-US" sz="1600" b="1" dirty="0">
                <a:solidFill>
                  <a:schemeClr val="tx1"/>
                </a:solidFill>
              </a:rPr>
              <a:t>Entrenaments i partits </a:t>
            </a:r>
            <a:pPr indent="0" marL="0">
              <a:spcAft>
                <a:spcPts val="1400"/>
              </a:spcAft>
              <a:buNone/>
            </a:pPr>
            <a:r>
              <a:rPr lang="en-US" sz="1600" dirty="0">
                <a:solidFill>
                  <a:schemeClr val="accent5"/>
                </a:solidFill>
              </a:rPr>
              <a:t>de tots els equips que et pertoquen, en un sol calendari</a:t>
            </a:r>
            <a:endParaRPr lang="en-US" sz="1600" dirty="0"/>
          </a:p>
          <a:p>
            <a:pPr indent="0" marL="0">
              <a:spcAft>
                <a:spcPts val="1400"/>
              </a:spcAft>
              <a:buNone/>
            </a:pPr>
            <a:r>
              <a:rPr lang="en-US" sz="1600" b="1" dirty="0">
                <a:solidFill>
                  <a:schemeClr val="tx1"/>
                </a:solidFill>
              </a:rPr>
              <a:t>Un clic </a:t>
            </a:r>
            <a:pPr indent="0" marL="0">
              <a:spcAft>
                <a:spcPts val="1400"/>
              </a:spcAft>
              <a:buNone/>
            </a:pPr>
            <a:r>
              <a:rPr lang="en-US" sz="1600" dirty="0">
                <a:solidFill>
                  <a:schemeClr val="accent5"/>
                </a:solidFill>
              </a:rPr>
              <a:t>et porta a passar llista, a la convocatòria o al resultat</a:t>
            </a:r>
            <a:endParaRPr lang="en-US" sz="1600" dirty="0"/>
          </a:p>
          <a:p>
            <a:pPr indent="0" marL="0">
              <a:spcAft>
                <a:spcPts val="1400"/>
              </a:spcAft>
              <a:buNone/>
            </a:pPr>
            <a:r>
              <a:rPr lang="en-US" sz="1600" b="1" dirty="0">
                <a:solidFill>
                  <a:schemeClr val="tx1"/>
                </a:solidFill>
              </a:rPr>
              <a:t>Al mòbil </a:t>
            </a:r>
            <a:pPr indent="0" marL="0">
              <a:spcAft>
                <a:spcPts val="1400"/>
              </a:spcAft>
              <a:buNone/>
            </a:pPr>
            <a:r>
              <a:rPr lang="en-US" sz="1600" dirty="0">
                <a:solidFill>
                  <a:schemeClr val="accent5"/>
                </a:solidFill>
              </a:rPr>
              <a:t>es veu com una agenda, dia per dia</a:t>
            </a:r>
            <a:endParaRPr lang="en-US" sz="1600" dirty="0"/>
          </a:p>
        </p:txBody>
      </p:sp>
      <p:sp>
        <p:nvSpPr>
          <p:cNvPr id="4" name="Calendari fons"/>
          <p:cNvSpPr/>
          <p:nvPr/>
        </p:nvSpPr>
        <p:spPr>
          <a:xfrm>
            <a:off x="4480560" y="1280160"/>
            <a:ext cx="4114800" cy="3200400"/>
          </a:xfrm>
          <a:prstGeom prst="roundRect">
            <a:avLst>
              <a:gd name="adj" fmla="val 3429"/>
            </a:avLst>
          </a:prstGeom>
          <a:solidFill>
            <a:schemeClr val="bg2"/>
          </a:solidFill>
          <a:ln/>
        </p:spPr>
      </p:sp>
      <p:sp>
        <p:nvSpPr>
          <p:cNvPr id="5" name="Text 3"/>
          <p:cNvSpPr txBox="1"/>
          <p:nvPr/>
        </p:nvSpPr>
        <p:spPr>
          <a:xfrm>
            <a:off x="461772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Dl</a:t>
            </a:r>
            <a:endParaRPr lang="en-US" sz="1100" dirty="0"/>
          </a:p>
        </p:txBody>
      </p:sp>
      <p:sp>
        <p:nvSpPr>
          <p:cNvPr id="6" name="Text 4"/>
          <p:cNvSpPr txBox="1"/>
          <p:nvPr/>
        </p:nvSpPr>
        <p:spPr>
          <a:xfrm>
            <a:off x="516636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Dt</a:t>
            </a:r>
            <a:endParaRPr lang="en-US" sz="1100" dirty="0"/>
          </a:p>
        </p:txBody>
      </p:sp>
      <p:sp>
        <p:nvSpPr>
          <p:cNvPr id="7" name="Text 5"/>
          <p:cNvSpPr txBox="1"/>
          <p:nvPr/>
        </p:nvSpPr>
        <p:spPr>
          <a:xfrm>
            <a:off x="571500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Dc</a:t>
            </a:r>
            <a:endParaRPr lang="en-US" sz="1100" dirty="0"/>
          </a:p>
        </p:txBody>
      </p:sp>
      <p:sp>
        <p:nvSpPr>
          <p:cNvPr id="8" name="Text 6"/>
          <p:cNvSpPr txBox="1"/>
          <p:nvPr/>
        </p:nvSpPr>
        <p:spPr>
          <a:xfrm>
            <a:off x="626364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Dj</a:t>
            </a:r>
            <a:endParaRPr lang="en-US" sz="1100" dirty="0"/>
          </a:p>
        </p:txBody>
      </p:sp>
      <p:sp>
        <p:nvSpPr>
          <p:cNvPr id="9" name="Text 7"/>
          <p:cNvSpPr txBox="1"/>
          <p:nvPr/>
        </p:nvSpPr>
        <p:spPr>
          <a:xfrm>
            <a:off x="681228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Dv</a:t>
            </a:r>
            <a:endParaRPr lang="en-US" sz="1100" dirty="0"/>
          </a:p>
        </p:txBody>
      </p:sp>
      <p:sp>
        <p:nvSpPr>
          <p:cNvPr id="10" name="Text 8"/>
          <p:cNvSpPr txBox="1"/>
          <p:nvPr/>
        </p:nvSpPr>
        <p:spPr>
          <a:xfrm>
            <a:off x="736092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Ds</a:t>
            </a:r>
            <a:endParaRPr lang="en-US" sz="1100" dirty="0"/>
          </a:p>
        </p:txBody>
      </p:sp>
      <p:sp>
        <p:nvSpPr>
          <p:cNvPr id="11" name="Text 9"/>
          <p:cNvSpPr txBox="1"/>
          <p:nvPr/>
        </p:nvSpPr>
        <p:spPr>
          <a:xfrm>
            <a:off x="7909560" y="1444752"/>
            <a:ext cx="548640" cy="274320"/>
          </a:xfrm>
          <a:prstGeom prst="rect">
            <a:avLst/>
          </a:prstGeom>
          <a:noFill/>
          <a:ln/>
        </p:spPr>
        <p:txBody>
          <a:bodyPr wrap="square" lIns="0" tIns="0" rIns="0" bIns="0" rtlCol="0" anchor="t"/>
          <a:lstStyle/>
          <a:p>
            <a:pPr algn="ctr" indent="0" marL="0">
              <a:buNone/>
            </a:pPr>
            <a:r>
              <a:rPr lang="en-US" sz="1100" b="1" dirty="0">
                <a:solidFill>
                  <a:schemeClr val="accent5"/>
                </a:solidFill>
              </a:rPr>
              <a:t>Dg</a:t>
            </a:r>
            <a:endParaRPr lang="en-US" sz="1100" dirty="0"/>
          </a:p>
        </p:txBody>
      </p:sp>
      <p:sp>
        <p:nvSpPr>
          <p:cNvPr id="12" name="Esdeveniment Dl"/>
          <p:cNvSpPr/>
          <p:nvPr/>
        </p:nvSpPr>
        <p:spPr>
          <a:xfrm>
            <a:off x="4645152" y="2880360"/>
            <a:ext cx="493776" cy="548640"/>
          </a:xfrm>
          <a:prstGeom prst="roundRect">
            <a:avLst>
              <a:gd name="adj" fmla="val 11111"/>
            </a:avLst>
          </a:prstGeom>
          <a:solidFill>
            <a:schemeClr val="accent6"/>
          </a:solidFill>
          <a:ln w="12700">
            <a:solidFill>
              <a:schemeClr val="accent1"/>
            </a:solidFill>
            <a:prstDash val="solid"/>
          </a:ln>
        </p:spPr>
      </p:sp>
      <p:sp>
        <p:nvSpPr>
          <p:cNvPr id="13" name="Text 11"/>
          <p:cNvSpPr txBox="1"/>
          <p:nvPr/>
        </p:nvSpPr>
        <p:spPr>
          <a:xfrm>
            <a:off x="4645152" y="293522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18:00</a:t>
            </a:r>
            <a:endParaRPr lang="en-US" sz="1000" dirty="0"/>
          </a:p>
        </p:txBody>
      </p:sp>
      <p:sp>
        <p:nvSpPr>
          <p:cNvPr id="14" name="Esdeveniment Dc"/>
          <p:cNvSpPr/>
          <p:nvPr/>
        </p:nvSpPr>
        <p:spPr>
          <a:xfrm>
            <a:off x="5742432" y="2880360"/>
            <a:ext cx="493776" cy="548640"/>
          </a:xfrm>
          <a:prstGeom prst="roundRect">
            <a:avLst>
              <a:gd name="adj" fmla="val 11111"/>
            </a:avLst>
          </a:prstGeom>
          <a:solidFill>
            <a:schemeClr val="accent6"/>
          </a:solidFill>
          <a:ln w="12700">
            <a:solidFill>
              <a:schemeClr val="accent1"/>
            </a:solidFill>
            <a:prstDash val="solid"/>
          </a:ln>
        </p:spPr>
      </p:sp>
      <p:sp>
        <p:nvSpPr>
          <p:cNvPr id="15" name="Text 13"/>
          <p:cNvSpPr txBox="1"/>
          <p:nvPr/>
        </p:nvSpPr>
        <p:spPr>
          <a:xfrm>
            <a:off x="5742432" y="293522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18:00</a:t>
            </a:r>
            <a:endParaRPr lang="en-US" sz="1000" dirty="0"/>
          </a:p>
        </p:txBody>
      </p:sp>
      <p:sp>
        <p:nvSpPr>
          <p:cNvPr id="16" name="Esdeveniment Dj"/>
          <p:cNvSpPr/>
          <p:nvPr/>
        </p:nvSpPr>
        <p:spPr>
          <a:xfrm>
            <a:off x="6291072" y="3429000"/>
            <a:ext cx="493776" cy="548640"/>
          </a:xfrm>
          <a:prstGeom prst="roundRect">
            <a:avLst>
              <a:gd name="adj" fmla="val 11111"/>
            </a:avLst>
          </a:prstGeom>
          <a:solidFill>
            <a:schemeClr val="accent6"/>
          </a:solidFill>
          <a:ln w="12700">
            <a:solidFill>
              <a:schemeClr val="accent1"/>
            </a:solidFill>
            <a:prstDash val="solid"/>
          </a:ln>
        </p:spPr>
      </p:sp>
      <p:sp>
        <p:nvSpPr>
          <p:cNvPr id="17" name="Text 15"/>
          <p:cNvSpPr txBox="1"/>
          <p:nvPr/>
        </p:nvSpPr>
        <p:spPr>
          <a:xfrm>
            <a:off x="6291072" y="348386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19:00</a:t>
            </a:r>
            <a:endParaRPr lang="en-US" sz="1000" dirty="0"/>
          </a:p>
        </p:txBody>
      </p:sp>
      <p:sp>
        <p:nvSpPr>
          <p:cNvPr id="18" name="Esdeveniment Dv"/>
          <p:cNvSpPr/>
          <p:nvPr/>
        </p:nvSpPr>
        <p:spPr>
          <a:xfrm>
            <a:off x="6839712" y="2880360"/>
            <a:ext cx="493776" cy="548640"/>
          </a:xfrm>
          <a:prstGeom prst="roundRect">
            <a:avLst>
              <a:gd name="adj" fmla="val 11111"/>
            </a:avLst>
          </a:prstGeom>
          <a:solidFill>
            <a:schemeClr val="accent6"/>
          </a:solidFill>
          <a:ln w="12700">
            <a:solidFill>
              <a:schemeClr val="accent1"/>
            </a:solidFill>
            <a:prstDash val="solid"/>
          </a:ln>
        </p:spPr>
      </p:sp>
      <p:sp>
        <p:nvSpPr>
          <p:cNvPr id="19" name="Text 17"/>
          <p:cNvSpPr txBox="1"/>
          <p:nvPr/>
        </p:nvSpPr>
        <p:spPr>
          <a:xfrm>
            <a:off x="6839712" y="293522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18:00</a:t>
            </a:r>
            <a:endParaRPr lang="en-US" sz="1000" dirty="0"/>
          </a:p>
        </p:txBody>
      </p:sp>
      <p:sp>
        <p:nvSpPr>
          <p:cNvPr id="20" name="Esdeveniment Ds"/>
          <p:cNvSpPr/>
          <p:nvPr/>
        </p:nvSpPr>
        <p:spPr>
          <a:xfrm>
            <a:off x="7388352" y="1874520"/>
            <a:ext cx="493776" cy="685800"/>
          </a:xfrm>
          <a:prstGeom prst="roundRect">
            <a:avLst>
              <a:gd name="adj" fmla="val 11111"/>
            </a:avLst>
          </a:prstGeom>
          <a:solidFill>
            <a:srgbClr val="FBEFD9"/>
          </a:solidFill>
          <a:ln w="12700">
            <a:solidFill>
              <a:schemeClr val="accent3"/>
            </a:solidFill>
            <a:prstDash val="solid"/>
          </a:ln>
        </p:spPr>
      </p:sp>
      <p:sp>
        <p:nvSpPr>
          <p:cNvPr id="21" name="Text 19"/>
          <p:cNvSpPr txBox="1"/>
          <p:nvPr/>
        </p:nvSpPr>
        <p:spPr>
          <a:xfrm>
            <a:off x="7388352" y="192938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10:30</a:t>
            </a:r>
            <a:endParaRPr lang="en-US" sz="1000" dirty="0"/>
          </a:p>
        </p:txBody>
      </p:sp>
      <p:sp>
        <p:nvSpPr>
          <p:cNvPr id="22" name="Esdeveniment Dg"/>
          <p:cNvSpPr/>
          <p:nvPr/>
        </p:nvSpPr>
        <p:spPr>
          <a:xfrm>
            <a:off x="7936992" y="2194560"/>
            <a:ext cx="493776" cy="685800"/>
          </a:xfrm>
          <a:prstGeom prst="roundRect">
            <a:avLst>
              <a:gd name="adj" fmla="val 11111"/>
            </a:avLst>
          </a:prstGeom>
          <a:solidFill>
            <a:srgbClr val="FBEFD9"/>
          </a:solidFill>
          <a:ln w="12700">
            <a:solidFill>
              <a:schemeClr val="accent3"/>
            </a:solidFill>
            <a:prstDash val="solid"/>
          </a:ln>
        </p:spPr>
      </p:sp>
      <p:sp>
        <p:nvSpPr>
          <p:cNvPr id="23" name="Text 21"/>
          <p:cNvSpPr txBox="1"/>
          <p:nvPr/>
        </p:nvSpPr>
        <p:spPr>
          <a:xfrm>
            <a:off x="7936992" y="2249424"/>
            <a:ext cx="493776" cy="228600"/>
          </a:xfrm>
          <a:prstGeom prst="rect">
            <a:avLst/>
          </a:prstGeom>
          <a:noFill/>
          <a:ln/>
        </p:spPr>
        <p:txBody>
          <a:bodyPr wrap="square" lIns="0" tIns="0" rIns="0" bIns="0" rtlCol="0" anchor="t"/>
          <a:lstStyle/>
          <a:p>
            <a:pPr algn="ctr" indent="0" marL="0">
              <a:buNone/>
            </a:pPr>
            <a:r>
              <a:rPr lang="en-US" sz="1000" b="1" dirty="0">
                <a:solidFill>
                  <a:schemeClr val="tx1"/>
                </a:solidFill>
              </a:rPr>
              <a:t>12:00</a:t>
            </a:r>
            <a:endParaRPr lang="en-US" sz="1000" dirty="0"/>
          </a:p>
        </p:txBody>
      </p:sp>
      <p:sp>
        <p:nvSpPr>
          <p:cNvPr id="24" name="Llegenda entrenament"/>
          <p:cNvSpPr/>
          <p:nvPr/>
        </p:nvSpPr>
        <p:spPr>
          <a:xfrm>
            <a:off x="4663440" y="4069080"/>
            <a:ext cx="182880" cy="182880"/>
          </a:xfrm>
          <a:prstGeom prst="roundRect">
            <a:avLst>
              <a:gd name="adj" fmla="val 20000"/>
            </a:avLst>
          </a:prstGeom>
          <a:solidFill>
            <a:schemeClr val="accent6"/>
          </a:solidFill>
          <a:ln w="12700">
            <a:solidFill>
              <a:schemeClr val="accent1"/>
            </a:solidFill>
            <a:prstDash val="solid"/>
          </a:ln>
        </p:spPr>
      </p:sp>
      <p:sp>
        <p:nvSpPr>
          <p:cNvPr id="25" name="Text 23"/>
          <p:cNvSpPr txBox="1"/>
          <p:nvPr/>
        </p:nvSpPr>
        <p:spPr>
          <a:xfrm>
            <a:off x="4910328" y="4050792"/>
            <a:ext cx="1188720" cy="228600"/>
          </a:xfrm>
          <a:prstGeom prst="rect">
            <a:avLst/>
          </a:prstGeom>
          <a:noFill/>
          <a:ln/>
        </p:spPr>
        <p:txBody>
          <a:bodyPr wrap="square" lIns="0" tIns="0" rIns="0" bIns="0" rtlCol="0" anchor="t"/>
          <a:lstStyle/>
          <a:p>
            <a:pPr indent="0" marL="0">
              <a:buNone/>
            </a:pPr>
            <a:r>
              <a:rPr lang="en-US" sz="1100" dirty="0">
                <a:solidFill>
                  <a:schemeClr val="accent5"/>
                </a:solidFill>
              </a:rPr>
              <a:t>Entrenament</a:t>
            </a:r>
            <a:endParaRPr lang="en-US" sz="1100" dirty="0"/>
          </a:p>
        </p:txBody>
      </p:sp>
      <p:sp>
        <p:nvSpPr>
          <p:cNvPr id="26" name="Llegenda partit"/>
          <p:cNvSpPr/>
          <p:nvPr/>
        </p:nvSpPr>
        <p:spPr>
          <a:xfrm>
            <a:off x="6172200" y="4069080"/>
            <a:ext cx="182880" cy="182880"/>
          </a:xfrm>
          <a:prstGeom prst="roundRect">
            <a:avLst>
              <a:gd name="adj" fmla="val 20000"/>
            </a:avLst>
          </a:prstGeom>
          <a:solidFill>
            <a:srgbClr val="FBEFD9"/>
          </a:solidFill>
          <a:ln w="12700">
            <a:solidFill>
              <a:schemeClr val="accent3"/>
            </a:solidFill>
            <a:prstDash val="solid"/>
          </a:ln>
        </p:spPr>
      </p:sp>
      <p:sp>
        <p:nvSpPr>
          <p:cNvPr id="27" name="Text 25"/>
          <p:cNvSpPr txBox="1"/>
          <p:nvPr/>
        </p:nvSpPr>
        <p:spPr>
          <a:xfrm>
            <a:off x="6419088" y="4050792"/>
            <a:ext cx="914400" cy="228600"/>
          </a:xfrm>
          <a:prstGeom prst="rect">
            <a:avLst/>
          </a:prstGeom>
          <a:noFill/>
          <a:ln/>
        </p:spPr>
        <p:txBody>
          <a:bodyPr wrap="square" lIns="0" tIns="0" rIns="0" bIns="0" rtlCol="0" anchor="t"/>
          <a:lstStyle/>
          <a:p>
            <a:pPr indent="0" marL="0">
              <a:buNone/>
            </a:pPr>
            <a:r>
              <a:rPr lang="en-US" sz="1100" dirty="0">
                <a:solidFill>
                  <a:schemeClr val="accent5"/>
                </a:solidFill>
              </a:rPr>
              <a:t>Partit</a:t>
            </a:r>
            <a:endParaRPr lang="en-US" sz="11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Entrenadors: menys paperassa</a:t>
            </a:r>
            <a:endParaRPr lang="en-US" sz="2800" dirty="0"/>
          </a:p>
        </p:txBody>
      </p:sp>
      <p:sp>
        <p:nvSpPr>
          <p:cNvPr id="3" name="Entrenador 1 cercle"/>
          <p:cNvSpPr/>
          <p:nvPr/>
        </p:nvSpPr>
        <p:spPr>
          <a:xfrm>
            <a:off x="548640" y="1325880"/>
            <a:ext cx="640080" cy="640080"/>
          </a:xfrm>
          <a:prstGeom prst="ellipse">
            <a:avLst/>
          </a:prstGeom>
          <a:solidFill>
            <a:schemeClr val="accent1"/>
          </a:solidFill>
          <a:ln/>
        </p:spPr>
      </p:sp>
      <p:pic>
        <p:nvPicPr>
          <p:cNvPr id="4" name="Entrenador 1 icona" descr="preencoded.png">    </p:cNvPr>
          <p:cNvPicPr>
            <a:picLocks noChangeAspect="1"/>
          </p:cNvPicPr>
          <p:nvPr/>
        </p:nvPicPr>
        <p:blipFill>
          <a:blip r:embed="rId1"/>
          <a:stretch>
            <a:fillRect/>
          </a:stretch>
        </p:blipFill>
        <p:spPr>
          <a:xfrm>
            <a:off x="708660" y="1485900"/>
            <a:ext cx="320040" cy="320040"/>
          </a:xfrm>
          <a:prstGeom prst="rect">
            <a:avLst/>
          </a:prstGeom>
        </p:spPr>
      </p:pic>
      <p:sp>
        <p:nvSpPr>
          <p:cNvPr id="5" name="Text 2"/>
          <p:cNvSpPr txBox="1"/>
          <p:nvPr/>
        </p:nvSpPr>
        <p:spPr>
          <a:xfrm>
            <a:off x="1417320" y="1344168"/>
            <a:ext cx="4023360" cy="347472"/>
          </a:xfrm>
          <a:prstGeom prst="rect">
            <a:avLst/>
          </a:prstGeom>
          <a:noFill/>
          <a:ln/>
        </p:spPr>
        <p:txBody>
          <a:bodyPr wrap="square" lIns="0" tIns="0" rIns="0" bIns="0" rtlCol="0" anchor="t"/>
          <a:lstStyle/>
          <a:p>
            <a:pPr indent="0" marL="0">
              <a:buNone/>
            </a:pPr>
            <a:r>
              <a:rPr lang="en-US" sz="1700" b="1" dirty="0">
                <a:solidFill>
                  <a:schemeClr val="tx1"/>
                </a:solidFill>
              </a:rPr>
              <a:t>Passar llista des del mòbil</a:t>
            </a:r>
            <a:endParaRPr lang="en-US" sz="1700" dirty="0"/>
          </a:p>
        </p:txBody>
      </p:sp>
      <p:sp>
        <p:nvSpPr>
          <p:cNvPr id="6" name="Text 3"/>
          <p:cNvSpPr txBox="1"/>
          <p:nvPr/>
        </p:nvSpPr>
        <p:spPr>
          <a:xfrm>
            <a:off x="1417320" y="1709928"/>
            <a:ext cx="4023360" cy="457200"/>
          </a:xfrm>
          <a:prstGeom prst="rect">
            <a:avLst/>
          </a:prstGeom>
          <a:noFill/>
          <a:ln/>
        </p:spPr>
        <p:txBody>
          <a:bodyPr wrap="square" lIns="0" tIns="0" rIns="0" bIns="0" rtlCol="0" anchor="t"/>
          <a:lstStyle/>
          <a:p>
            <a:pPr indent="0" marL="0">
              <a:buNone/>
            </a:pPr>
            <a:r>
              <a:rPr lang="en-US" sz="1400" dirty="0">
                <a:solidFill>
                  <a:schemeClr val="accent5"/>
                </a:solidFill>
              </a:rPr>
              <a:t>Tothom surt present: només cal desmarcar qui falta</a:t>
            </a:r>
            <a:endParaRPr lang="en-US" sz="1400" dirty="0"/>
          </a:p>
        </p:txBody>
      </p:sp>
      <p:sp>
        <p:nvSpPr>
          <p:cNvPr id="7" name="Entrenador 2 cercle"/>
          <p:cNvSpPr/>
          <p:nvPr/>
        </p:nvSpPr>
        <p:spPr>
          <a:xfrm>
            <a:off x="548640" y="2377440"/>
            <a:ext cx="640080" cy="640080"/>
          </a:xfrm>
          <a:prstGeom prst="ellipse">
            <a:avLst/>
          </a:prstGeom>
          <a:solidFill>
            <a:schemeClr val="accent1"/>
          </a:solidFill>
          <a:ln/>
        </p:spPr>
      </p:sp>
      <p:pic>
        <p:nvPicPr>
          <p:cNvPr id="8" name="Entrenador 2 icona" descr="preencoded.png">    </p:cNvPr>
          <p:cNvPicPr>
            <a:picLocks noChangeAspect="1"/>
          </p:cNvPicPr>
          <p:nvPr/>
        </p:nvPicPr>
        <p:blipFill>
          <a:blip r:embed="rId2"/>
          <a:stretch>
            <a:fillRect/>
          </a:stretch>
        </p:blipFill>
        <p:spPr>
          <a:xfrm>
            <a:off x="708660" y="2537460"/>
            <a:ext cx="320040" cy="320040"/>
          </a:xfrm>
          <a:prstGeom prst="rect">
            <a:avLst/>
          </a:prstGeom>
        </p:spPr>
      </p:pic>
      <p:sp>
        <p:nvSpPr>
          <p:cNvPr id="9" name="Text 5"/>
          <p:cNvSpPr txBox="1"/>
          <p:nvPr/>
        </p:nvSpPr>
        <p:spPr>
          <a:xfrm>
            <a:off x="1417320" y="2395728"/>
            <a:ext cx="4023360" cy="347472"/>
          </a:xfrm>
          <a:prstGeom prst="rect">
            <a:avLst/>
          </a:prstGeom>
          <a:noFill/>
          <a:ln/>
        </p:spPr>
        <p:txBody>
          <a:bodyPr wrap="square" lIns="0" tIns="0" rIns="0" bIns="0" rtlCol="0" anchor="t"/>
          <a:lstStyle/>
          <a:p>
            <a:pPr indent="0" marL="0">
              <a:buNone/>
            </a:pPr>
            <a:r>
              <a:rPr lang="en-US" sz="1700" b="1" dirty="0">
                <a:solidFill>
                  <a:schemeClr val="tx1"/>
                </a:solidFill>
              </a:rPr>
              <a:t>Convocatòries amb confirmació</a:t>
            </a:r>
            <a:endParaRPr lang="en-US" sz="1700" dirty="0"/>
          </a:p>
        </p:txBody>
      </p:sp>
      <p:sp>
        <p:nvSpPr>
          <p:cNvPr id="10" name="Text 6"/>
          <p:cNvSpPr txBox="1"/>
          <p:nvPr/>
        </p:nvSpPr>
        <p:spPr>
          <a:xfrm>
            <a:off x="1417320" y="2761488"/>
            <a:ext cx="4023360" cy="457200"/>
          </a:xfrm>
          <a:prstGeom prst="rect">
            <a:avLst/>
          </a:prstGeom>
          <a:noFill/>
          <a:ln/>
        </p:spPr>
        <p:txBody>
          <a:bodyPr wrap="square" lIns="0" tIns="0" rIns="0" bIns="0" rtlCol="0" anchor="t"/>
          <a:lstStyle/>
          <a:p>
            <a:pPr indent="0" marL="0">
              <a:buNone/>
            </a:pPr>
            <a:r>
              <a:rPr lang="en-US" sz="1400" dirty="0">
                <a:solidFill>
                  <a:schemeClr val="accent5"/>
                </a:solidFill>
              </a:rPr>
              <a:t>Les famílies confirmen si el jugador hi podrà anar</a:t>
            </a:r>
            <a:endParaRPr lang="en-US" sz="1400" dirty="0"/>
          </a:p>
        </p:txBody>
      </p:sp>
      <p:sp>
        <p:nvSpPr>
          <p:cNvPr id="11" name="Entrenador 3 cercle"/>
          <p:cNvSpPr/>
          <p:nvPr/>
        </p:nvSpPr>
        <p:spPr>
          <a:xfrm>
            <a:off x="548640" y="3429000"/>
            <a:ext cx="640080" cy="640080"/>
          </a:xfrm>
          <a:prstGeom prst="ellipse">
            <a:avLst/>
          </a:prstGeom>
          <a:solidFill>
            <a:schemeClr val="accent1"/>
          </a:solidFill>
          <a:ln/>
        </p:spPr>
      </p:sp>
      <p:pic>
        <p:nvPicPr>
          <p:cNvPr id="12" name="Entrenador 3 icona" descr="preencoded.png">    </p:cNvPr>
          <p:cNvPicPr>
            <a:picLocks noChangeAspect="1"/>
          </p:cNvPicPr>
          <p:nvPr/>
        </p:nvPicPr>
        <p:blipFill>
          <a:blip r:embed="rId3"/>
          <a:stretch>
            <a:fillRect/>
          </a:stretch>
        </p:blipFill>
        <p:spPr>
          <a:xfrm>
            <a:off x="708660" y="3589020"/>
            <a:ext cx="320040" cy="320040"/>
          </a:xfrm>
          <a:prstGeom prst="rect">
            <a:avLst/>
          </a:prstGeom>
        </p:spPr>
      </p:pic>
      <p:sp>
        <p:nvSpPr>
          <p:cNvPr id="13" name="Text 8"/>
          <p:cNvSpPr txBox="1"/>
          <p:nvPr/>
        </p:nvSpPr>
        <p:spPr>
          <a:xfrm>
            <a:off x="1417320" y="3447288"/>
            <a:ext cx="4023360" cy="347472"/>
          </a:xfrm>
          <a:prstGeom prst="rect">
            <a:avLst/>
          </a:prstGeom>
          <a:noFill/>
          <a:ln/>
        </p:spPr>
        <p:txBody>
          <a:bodyPr wrap="square" lIns="0" tIns="0" rIns="0" bIns="0" rtlCol="0" anchor="t"/>
          <a:lstStyle/>
          <a:p>
            <a:pPr indent="0" marL="0">
              <a:buNone/>
            </a:pPr>
            <a:r>
              <a:rPr lang="en-US" sz="1700" b="1" dirty="0">
                <a:solidFill>
                  <a:schemeClr val="tx1"/>
                </a:solidFill>
              </a:rPr>
              <a:t>Valoració del potencial</a:t>
            </a:r>
            <a:endParaRPr lang="en-US" sz="1700" dirty="0"/>
          </a:p>
        </p:txBody>
      </p:sp>
      <p:sp>
        <p:nvSpPr>
          <p:cNvPr id="14" name="Text 9"/>
          <p:cNvSpPr txBox="1"/>
          <p:nvPr/>
        </p:nvSpPr>
        <p:spPr>
          <a:xfrm>
            <a:off x="1417320" y="3813048"/>
            <a:ext cx="4023360" cy="457200"/>
          </a:xfrm>
          <a:prstGeom prst="rect">
            <a:avLst/>
          </a:prstGeom>
          <a:noFill/>
          <a:ln/>
        </p:spPr>
        <p:txBody>
          <a:bodyPr wrap="square" lIns="0" tIns="0" rIns="0" bIns="0" rtlCol="0" anchor="t"/>
          <a:lstStyle/>
          <a:p>
            <a:pPr indent="0" marL="0">
              <a:buNone/>
            </a:pPr>
            <a:r>
              <a:rPr lang="en-US" sz="1400" dirty="0">
                <a:solidFill>
                  <a:schemeClr val="accent5"/>
                </a:solidFill>
              </a:rPr>
              <a:t>Tècnica, físic, tàctic i mental, amb l’evolució en %</a:t>
            </a:r>
            <a:endParaRPr lang="en-US" sz="1400" dirty="0"/>
          </a:p>
        </p:txBody>
      </p:sp>
      <p:sp>
        <p:nvSpPr>
          <p:cNvPr id="15" name="Destacat 30 segons"/>
          <p:cNvSpPr/>
          <p:nvPr/>
        </p:nvSpPr>
        <p:spPr>
          <a:xfrm>
            <a:off x="5852160" y="1325880"/>
            <a:ext cx="2743200" cy="3017520"/>
          </a:xfrm>
          <a:prstGeom prst="roundRect">
            <a:avLst>
              <a:gd name="adj" fmla="val 4000"/>
            </a:avLst>
          </a:prstGeom>
          <a:solidFill>
            <a:schemeClr val="tx1"/>
          </a:solidFill>
          <a:ln/>
        </p:spPr>
      </p:sp>
      <p:sp>
        <p:nvSpPr>
          <p:cNvPr id="16" name="Text 11"/>
          <p:cNvSpPr txBox="1"/>
          <p:nvPr/>
        </p:nvSpPr>
        <p:spPr>
          <a:xfrm>
            <a:off x="6126480" y="1828800"/>
            <a:ext cx="2194560" cy="109728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30 s</a:t>
            </a:r>
            <a:endParaRPr lang="en-US" sz="6000" dirty="0"/>
          </a:p>
        </p:txBody>
      </p:sp>
      <p:sp>
        <p:nvSpPr>
          <p:cNvPr id="17" name="Text 12"/>
          <p:cNvSpPr txBox="1"/>
          <p:nvPr/>
        </p:nvSpPr>
        <p:spPr>
          <a:xfrm>
            <a:off x="6126480" y="2971800"/>
            <a:ext cx="2194560" cy="822960"/>
          </a:xfrm>
          <a:prstGeom prst="rect">
            <a:avLst/>
          </a:prstGeom>
          <a:noFill/>
          <a:ln/>
        </p:spPr>
        <p:txBody>
          <a:bodyPr wrap="square" lIns="0" tIns="0" rIns="0" bIns="0" rtlCol="0" anchor="t"/>
          <a:lstStyle/>
          <a:p>
            <a:pPr indent="0" marL="0">
              <a:buNone/>
            </a:pPr>
            <a:r>
              <a:rPr lang="en-US" sz="1600" dirty="0">
                <a:solidFill>
                  <a:schemeClr val="bg1"/>
                </a:solidFill>
              </a:rPr>
              <a:t>per passar llista a tot l’equip</a:t>
            </a:r>
            <a:endParaRPr lang="en-US" sz="16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Famílies informades, sense WhatsApp</a:t>
            </a:r>
            <a:endParaRPr lang="en-US" sz="2800" dirty="0"/>
          </a:p>
        </p:txBody>
      </p:sp>
      <p:sp>
        <p:nvSpPr>
          <p:cNvPr id="3" name="Missatge famílies"/>
          <p:cNvSpPr/>
          <p:nvPr/>
        </p:nvSpPr>
        <p:spPr>
          <a:xfrm>
            <a:off x="548640" y="1325880"/>
            <a:ext cx="3108960" cy="3017520"/>
          </a:xfrm>
          <a:prstGeom prst="roundRect">
            <a:avLst>
              <a:gd name="adj" fmla="val 3636"/>
            </a:avLst>
          </a:prstGeom>
          <a:solidFill>
            <a:schemeClr val="accent1"/>
          </a:solidFill>
          <a:ln/>
        </p:spPr>
      </p:sp>
      <p:sp>
        <p:nvSpPr>
          <p:cNvPr id="4" name="Text 2"/>
          <p:cNvSpPr txBox="1"/>
          <p:nvPr/>
        </p:nvSpPr>
        <p:spPr>
          <a:xfrm>
            <a:off x="868680" y="1325880"/>
            <a:ext cx="2468880" cy="3017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Tot el que una família necessita saber, al seu mòbil</a:t>
            </a:r>
            <a:endParaRPr lang="en-US" sz="2200" dirty="0"/>
          </a:p>
        </p:txBody>
      </p:sp>
      <p:sp>
        <p:nvSpPr>
          <p:cNvPr id="5" name="Família 1 cercle"/>
          <p:cNvSpPr/>
          <p:nvPr/>
        </p:nvSpPr>
        <p:spPr>
          <a:xfrm>
            <a:off x="4069080" y="1371600"/>
            <a:ext cx="502920" cy="502920"/>
          </a:xfrm>
          <a:prstGeom prst="ellipse">
            <a:avLst/>
          </a:prstGeom>
          <a:solidFill>
            <a:schemeClr val="accent6"/>
          </a:solidFill>
          <a:ln/>
        </p:spPr>
      </p:sp>
      <p:pic>
        <p:nvPicPr>
          <p:cNvPr id="6" name="Família 1 icona" descr="preencoded.png">    </p:cNvPr>
          <p:cNvPicPr>
            <a:picLocks noChangeAspect="1"/>
          </p:cNvPicPr>
          <p:nvPr/>
        </p:nvPicPr>
        <p:blipFill>
          <a:blip r:embed="rId1"/>
          <a:stretch>
            <a:fillRect/>
          </a:stretch>
        </p:blipFill>
        <p:spPr>
          <a:xfrm>
            <a:off x="4194810" y="1497330"/>
            <a:ext cx="251460" cy="251460"/>
          </a:xfrm>
          <a:prstGeom prst="rect">
            <a:avLst/>
          </a:prstGeom>
        </p:spPr>
      </p:pic>
      <p:sp>
        <p:nvSpPr>
          <p:cNvPr id="7" name="Text 4"/>
          <p:cNvSpPr txBox="1"/>
          <p:nvPr/>
        </p:nvSpPr>
        <p:spPr>
          <a:xfrm>
            <a:off x="4754880" y="1481328"/>
            <a:ext cx="3840480" cy="320040"/>
          </a:xfrm>
          <a:prstGeom prst="rect">
            <a:avLst/>
          </a:prstGeom>
          <a:noFill/>
          <a:ln/>
        </p:spPr>
        <p:txBody>
          <a:bodyPr wrap="square" lIns="0" tIns="0" rIns="0" bIns="0" rtlCol="0" anchor="t"/>
          <a:lstStyle/>
          <a:p>
            <a:pPr indent="0" marL="0">
              <a:buNone/>
            </a:pPr>
            <a:r>
              <a:rPr lang="en-US" sz="1600" dirty="0">
                <a:solidFill>
                  <a:schemeClr val="tx1"/>
                </a:solidFill>
              </a:rPr>
              <a:t>Horaris, partits i resultats</a:t>
            </a:r>
            <a:endParaRPr lang="en-US" sz="1600" dirty="0"/>
          </a:p>
        </p:txBody>
      </p:sp>
      <p:sp>
        <p:nvSpPr>
          <p:cNvPr id="8" name="Família 2 cercle"/>
          <p:cNvSpPr/>
          <p:nvPr/>
        </p:nvSpPr>
        <p:spPr>
          <a:xfrm>
            <a:off x="4069080" y="2121408"/>
            <a:ext cx="502920" cy="502920"/>
          </a:xfrm>
          <a:prstGeom prst="ellipse">
            <a:avLst/>
          </a:prstGeom>
          <a:solidFill>
            <a:schemeClr val="accent6"/>
          </a:solidFill>
          <a:ln/>
        </p:spPr>
      </p:sp>
      <p:pic>
        <p:nvPicPr>
          <p:cNvPr id="9" name="Família 2 icona" descr="preencoded.png">    </p:cNvPr>
          <p:cNvPicPr>
            <a:picLocks noChangeAspect="1"/>
          </p:cNvPicPr>
          <p:nvPr/>
        </p:nvPicPr>
        <p:blipFill>
          <a:blip r:embed="rId2"/>
          <a:stretch>
            <a:fillRect/>
          </a:stretch>
        </p:blipFill>
        <p:spPr>
          <a:xfrm>
            <a:off x="4194810" y="2247138"/>
            <a:ext cx="251460" cy="251460"/>
          </a:xfrm>
          <a:prstGeom prst="rect">
            <a:avLst/>
          </a:prstGeom>
        </p:spPr>
      </p:pic>
      <p:sp>
        <p:nvSpPr>
          <p:cNvPr id="10" name="Text 6"/>
          <p:cNvSpPr txBox="1"/>
          <p:nvPr/>
        </p:nvSpPr>
        <p:spPr>
          <a:xfrm>
            <a:off x="4754880" y="2231136"/>
            <a:ext cx="3840480" cy="320040"/>
          </a:xfrm>
          <a:prstGeom prst="rect">
            <a:avLst/>
          </a:prstGeom>
          <a:noFill/>
          <a:ln/>
        </p:spPr>
        <p:txBody>
          <a:bodyPr wrap="square" lIns="0" tIns="0" rIns="0" bIns="0" rtlCol="0" anchor="t"/>
          <a:lstStyle/>
          <a:p>
            <a:pPr indent="0" marL="0">
              <a:buNone/>
            </a:pPr>
            <a:r>
              <a:rPr lang="en-US" sz="1600" dirty="0">
                <a:solidFill>
                  <a:schemeClr val="tx1"/>
                </a:solidFill>
              </a:rPr>
              <a:t>Ubicació del camp amb Google Maps</a:t>
            </a:r>
            <a:endParaRPr lang="en-US" sz="1600" dirty="0"/>
          </a:p>
        </p:txBody>
      </p:sp>
      <p:sp>
        <p:nvSpPr>
          <p:cNvPr id="11" name="Família 3 cercle"/>
          <p:cNvSpPr/>
          <p:nvPr/>
        </p:nvSpPr>
        <p:spPr>
          <a:xfrm>
            <a:off x="4069080" y="2871216"/>
            <a:ext cx="502920" cy="502920"/>
          </a:xfrm>
          <a:prstGeom prst="ellipse">
            <a:avLst/>
          </a:prstGeom>
          <a:solidFill>
            <a:schemeClr val="accent6"/>
          </a:solidFill>
          <a:ln/>
        </p:spPr>
      </p:sp>
      <p:pic>
        <p:nvPicPr>
          <p:cNvPr id="12" name="Família 3 icona" descr="preencoded.png">    </p:cNvPr>
          <p:cNvPicPr>
            <a:picLocks noChangeAspect="1"/>
          </p:cNvPicPr>
          <p:nvPr/>
        </p:nvPicPr>
        <p:blipFill>
          <a:blip r:embed="rId3"/>
          <a:stretch>
            <a:fillRect/>
          </a:stretch>
        </p:blipFill>
        <p:spPr>
          <a:xfrm>
            <a:off x="4194810" y="2996946"/>
            <a:ext cx="251460" cy="251460"/>
          </a:xfrm>
          <a:prstGeom prst="rect">
            <a:avLst/>
          </a:prstGeom>
        </p:spPr>
      </p:pic>
      <p:sp>
        <p:nvSpPr>
          <p:cNvPr id="13" name="Text 8"/>
          <p:cNvSpPr txBox="1"/>
          <p:nvPr/>
        </p:nvSpPr>
        <p:spPr>
          <a:xfrm>
            <a:off x="4754880" y="2980944"/>
            <a:ext cx="3840480" cy="320040"/>
          </a:xfrm>
          <a:prstGeom prst="rect">
            <a:avLst/>
          </a:prstGeom>
          <a:noFill/>
          <a:ln/>
        </p:spPr>
        <p:txBody>
          <a:bodyPr wrap="square" lIns="0" tIns="0" rIns="0" bIns="0" rtlCol="0" anchor="t"/>
          <a:lstStyle/>
          <a:p>
            <a:pPr indent="0" marL="0">
              <a:buNone/>
            </a:pPr>
            <a:r>
              <a:rPr lang="en-US" sz="1600" dirty="0">
                <a:solidFill>
                  <a:schemeClr val="tx1"/>
                </a:solidFill>
              </a:rPr>
              <a:t>Rebuts amb avís per correu</a:t>
            </a:r>
            <a:endParaRPr lang="en-US" sz="1600" dirty="0"/>
          </a:p>
        </p:txBody>
      </p:sp>
      <p:sp>
        <p:nvSpPr>
          <p:cNvPr id="14" name="Família 4 cercle"/>
          <p:cNvSpPr/>
          <p:nvPr/>
        </p:nvSpPr>
        <p:spPr>
          <a:xfrm>
            <a:off x="4069080" y="3621024"/>
            <a:ext cx="502920" cy="502920"/>
          </a:xfrm>
          <a:prstGeom prst="ellipse">
            <a:avLst/>
          </a:prstGeom>
          <a:solidFill>
            <a:schemeClr val="accent6"/>
          </a:solidFill>
          <a:ln/>
        </p:spPr>
      </p:sp>
      <p:pic>
        <p:nvPicPr>
          <p:cNvPr id="15" name="Família 4 icona" descr="preencoded.png">    </p:cNvPr>
          <p:cNvPicPr>
            <a:picLocks noChangeAspect="1"/>
          </p:cNvPicPr>
          <p:nvPr/>
        </p:nvPicPr>
        <p:blipFill>
          <a:blip r:embed="rId4"/>
          <a:stretch>
            <a:fillRect/>
          </a:stretch>
        </p:blipFill>
        <p:spPr>
          <a:xfrm>
            <a:off x="4194810" y="3746754"/>
            <a:ext cx="251460" cy="251460"/>
          </a:xfrm>
          <a:prstGeom prst="rect">
            <a:avLst/>
          </a:prstGeom>
        </p:spPr>
      </p:pic>
      <p:sp>
        <p:nvSpPr>
          <p:cNvPr id="16" name="Text 10"/>
          <p:cNvSpPr txBox="1"/>
          <p:nvPr/>
        </p:nvSpPr>
        <p:spPr>
          <a:xfrm>
            <a:off x="4754880" y="3730752"/>
            <a:ext cx="3840480" cy="320040"/>
          </a:xfrm>
          <a:prstGeom prst="rect">
            <a:avLst/>
          </a:prstGeom>
          <a:noFill/>
          <a:ln/>
        </p:spPr>
        <p:txBody>
          <a:bodyPr wrap="square" lIns="0" tIns="0" rIns="0" bIns="0" rtlCol="0" anchor="t"/>
          <a:lstStyle/>
          <a:p>
            <a:pPr indent="0" marL="0">
              <a:buNone/>
            </a:pPr>
            <a:r>
              <a:rPr lang="en-US" sz="1600" dirty="0">
                <a:solidFill>
                  <a:schemeClr val="tx1"/>
                </a:solidFill>
              </a:rPr>
              <a:t>Comunicats del club i de l’equip</a:t>
            </a:r>
            <a:endParaRPr lang="en-US" sz="16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Direcció: les quotes, sota control</a:t>
            </a:r>
            <a:endParaRPr lang="en-US" sz="2800" dirty="0"/>
          </a:p>
        </p:txBody>
      </p:sp>
      <p:sp>
        <p:nvSpPr>
          <p:cNvPr id="3" name="Estat Cobrat"/>
          <p:cNvSpPr/>
          <p:nvPr/>
        </p:nvSpPr>
        <p:spPr>
          <a:xfrm>
            <a:off x="548640" y="1280160"/>
            <a:ext cx="2514600" cy="1325880"/>
          </a:xfrm>
          <a:prstGeom prst="roundRect">
            <a:avLst>
              <a:gd name="adj" fmla="val 8276"/>
            </a:avLst>
          </a:prstGeom>
          <a:solidFill>
            <a:schemeClr val="bg2"/>
          </a:solidFill>
          <a:ln/>
        </p:spPr>
      </p:sp>
      <p:sp>
        <p:nvSpPr>
          <p:cNvPr id="4" name="Text 2"/>
          <p:cNvSpPr txBox="1"/>
          <p:nvPr/>
        </p:nvSpPr>
        <p:spPr>
          <a:xfrm>
            <a:off x="822960" y="1463040"/>
            <a:ext cx="20116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COBRAT</a:t>
            </a:r>
            <a:endParaRPr lang="en-US" sz="1100" dirty="0"/>
          </a:p>
        </p:txBody>
      </p:sp>
      <p:sp>
        <p:nvSpPr>
          <p:cNvPr id="5" name="Text 3"/>
          <p:cNvSpPr txBox="1"/>
          <p:nvPr/>
        </p:nvSpPr>
        <p:spPr>
          <a:xfrm>
            <a:off x="822960" y="1783080"/>
            <a:ext cx="2103120" cy="64008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12.480 €</a:t>
            </a:r>
            <a:endParaRPr lang="en-US" sz="3200" dirty="0"/>
          </a:p>
        </p:txBody>
      </p:sp>
      <p:sp>
        <p:nvSpPr>
          <p:cNvPr id="6" name="Estat Pendent"/>
          <p:cNvSpPr/>
          <p:nvPr/>
        </p:nvSpPr>
        <p:spPr>
          <a:xfrm>
            <a:off x="3291840" y="1280160"/>
            <a:ext cx="2514600" cy="1325880"/>
          </a:xfrm>
          <a:prstGeom prst="roundRect">
            <a:avLst>
              <a:gd name="adj" fmla="val 8276"/>
            </a:avLst>
          </a:prstGeom>
          <a:solidFill>
            <a:schemeClr val="bg2"/>
          </a:solidFill>
          <a:ln/>
        </p:spPr>
      </p:sp>
      <p:sp>
        <p:nvSpPr>
          <p:cNvPr id="7" name="Text 5"/>
          <p:cNvSpPr txBox="1"/>
          <p:nvPr/>
        </p:nvSpPr>
        <p:spPr>
          <a:xfrm>
            <a:off x="3566160" y="1463040"/>
            <a:ext cx="20116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PENDENT</a:t>
            </a:r>
            <a:endParaRPr lang="en-US" sz="1100" dirty="0"/>
          </a:p>
        </p:txBody>
      </p:sp>
      <p:sp>
        <p:nvSpPr>
          <p:cNvPr id="8" name="Text 6"/>
          <p:cNvSpPr txBox="1"/>
          <p:nvPr/>
        </p:nvSpPr>
        <p:spPr>
          <a:xfrm>
            <a:off x="3566160" y="1783080"/>
            <a:ext cx="2103120" cy="640080"/>
          </a:xfrm>
          <a:prstGeom prst="rect">
            <a:avLst/>
          </a:prstGeom>
          <a:noFill/>
          <a:ln/>
        </p:spPr>
        <p:txBody>
          <a:bodyPr wrap="square" lIns="0" tIns="0" rIns="0" bIns="0" rtlCol="0" anchor="t"/>
          <a:lstStyle/>
          <a:p>
            <a:pPr indent="0" marL="0">
              <a:buNone/>
            </a:pPr>
            <a:r>
              <a:rPr lang="en-US" sz="3200" b="1" dirty="0">
                <a:solidFill>
                  <a:schemeClr val="accent3"/>
                </a:solidFill>
                <a:latin typeface="Arial" pitchFamily="34" charset="0"/>
                <a:ea typeface="Arial" pitchFamily="34" charset="-122"/>
                <a:cs typeface="Arial" pitchFamily="34" charset="-120"/>
              </a:rPr>
              <a:t>2.150 €</a:t>
            </a:r>
            <a:endParaRPr lang="en-US" sz="3200" dirty="0"/>
          </a:p>
        </p:txBody>
      </p:sp>
      <p:sp>
        <p:nvSpPr>
          <p:cNvPr id="9" name="Estat Vençut"/>
          <p:cNvSpPr/>
          <p:nvPr/>
        </p:nvSpPr>
        <p:spPr>
          <a:xfrm>
            <a:off x="6035040" y="1280160"/>
            <a:ext cx="2514600" cy="1325880"/>
          </a:xfrm>
          <a:prstGeom prst="roundRect">
            <a:avLst>
              <a:gd name="adj" fmla="val 8276"/>
            </a:avLst>
          </a:prstGeom>
          <a:solidFill>
            <a:schemeClr val="bg2"/>
          </a:solidFill>
          <a:ln/>
        </p:spPr>
      </p:sp>
      <p:sp>
        <p:nvSpPr>
          <p:cNvPr id="10" name="Text 8"/>
          <p:cNvSpPr txBox="1"/>
          <p:nvPr/>
        </p:nvSpPr>
        <p:spPr>
          <a:xfrm>
            <a:off x="6309360" y="1463040"/>
            <a:ext cx="20116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VENÇUT</a:t>
            </a:r>
            <a:endParaRPr lang="en-US" sz="1100" dirty="0"/>
          </a:p>
        </p:txBody>
      </p:sp>
      <p:sp>
        <p:nvSpPr>
          <p:cNvPr id="11" name="Text 9"/>
          <p:cNvSpPr txBox="1"/>
          <p:nvPr/>
        </p:nvSpPr>
        <p:spPr>
          <a:xfrm>
            <a:off x="6309360" y="1783080"/>
            <a:ext cx="2103120" cy="640080"/>
          </a:xfrm>
          <a:prstGeom prst="rect">
            <a:avLst/>
          </a:prstGeom>
          <a:noFill/>
          <a:ln/>
        </p:spPr>
        <p:txBody>
          <a:bodyPr wrap="square" lIns="0" tIns="0" rIns="0" bIns="0" rtlCol="0" anchor="t"/>
          <a:lstStyle/>
          <a:p>
            <a:pPr indent="0" marL="0">
              <a:buNone/>
            </a:pPr>
            <a:r>
              <a:rPr lang="en-US" sz="3200" b="1" dirty="0">
                <a:solidFill>
                  <a:schemeClr val="accent4"/>
                </a:solidFill>
                <a:latin typeface="Arial" pitchFamily="34" charset="0"/>
                <a:ea typeface="Arial" pitchFamily="34" charset="-122"/>
                <a:cs typeface="Arial" pitchFamily="34" charset="-120"/>
              </a:rPr>
              <a:t>390 €</a:t>
            </a:r>
            <a:endParaRPr lang="en-US" sz="3200" dirty="0"/>
          </a:p>
        </p:txBody>
      </p:sp>
      <p:sp>
        <p:nvSpPr>
          <p:cNvPr id="12" name="Text 10"/>
          <p:cNvSpPr txBox="1"/>
          <p:nvPr/>
        </p:nvSpPr>
        <p:spPr>
          <a:xfrm>
            <a:off x="548640" y="2697480"/>
            <a:ext cx="2743200" cy="228600"/>
          </a:xfrm>
          <a:prstGeom prst="rect">
            <a:avLst/>
          </a:prstGeom>
          <a:noFill/>
          <a:ln/>
        </p:spPr>
        <p:txBody>
          <a:bodyPr wrap="square" lIns="0" tIns="0" rIns="0" bIns="0" rtlCol="0" anchor="t"/>
          <a:lstStyle/>
          <a:p>
            <a:pPr indent="0" marL="0">
              <a:buNone/>
            </a:pPr>
            <a:r>
              <a:rPr lang="en-US" sz="1000" i="1" dirty="0">
                <a:solidFill>
                  <a:schemeClr val="accent5"/>
                </a:solidFill>
              </a:rPr>
              <a:t>Xifres d’exemple</a:t>
            </a:r>
            <a:endParaRPr lang="en-US" sz="1000" dirty="0"/>
          </a:p>
        </p:txBody>
      </p:sp>
      <p:sp>
        <p:nvSpPr>
          <p:cNvPr id="13" name="Text 11"/>
          <p:cNvSpPr txBox="1"/>
          <p:nvPr/>
        </p:nvSpPr>
        <p:spPr>
          <a:xfrm>
            <a:off x="548640" y="3063240"/>
            <a:ext cx="8046720" cy="146304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Emet un rebut </a:t>
            </a:r>
            <a:pPr indent="0" marL="0">
              <a:spcAft>
                <a:spcPts val="800"/>
              </a:spcAft>
              <a:buNone/>
            </a:pPr>
            <a:r>
              <a:rPr lang="en-US" sz="1600" dirty="0">
                <a:solidFill>
                  <a:schemeClr val="accent5"/>
                </a:solidFill>
              </a:rPr>
              <a:t>i la família rep l’avís per correu</a:t>
            </a:r>
            <a:endParaRPr lang="en-US" sz="1600" dirty="0"/>
          </a:p>
          <a:p>
            <a:pPr marL="203200" indent="-203200">
              <a:spcAft>
                <a:spcPts val="800"/>
              </a:spcAft>
              <a:buSzPct val="100000"/>
              <a:buChar char="•"/>
            </a:pPr>
            <a:r>
              <a:rPr lang="en-US" sz="1600" b="1" dirty="0">
                <a:solidFill>
                  <a:schemeClr val="tx1"/>
                </a:solidFill>
              </a:rPr>
              <a:t>Filtra </a:t>
            </a:r>
            <a:pPr indent="0" marL="0">
              <a:spcAft>
                <a:spcPts val="800"/>
              </a:spcAft>
              <a:buNone/>
            </a:pPr>
            <a:r>
              <a:rPr lang="en-US" sz="1600" dirty="0">
                <a:solidFill>
                  <a:schemeClr val="accent5"/>
                </a:solidFill>
              </a:rPr>
              <a:t>per cobrat, pendent o vençut amb un clic</a:t>
            </a:r>
            <a:endParaRPr lang="en-US" sz="1600" dirty="0"/>
          </a:p>
          <a:p>
            <a:pPr marL="203200" indent="-203200">
              <a:spcAft>
                <a:spcPts val="800"/>
              </a:spcAft>
              <a:buSzPct val="100000"/>
              <a:buChar char="•"/>
            </a:pPr>
            <a:r>
              <a:rPr lang="en-US" sz="1600" b="1" dirty="0">
                <a:solidFill>
                  <a:schemeClr val="tx1"/>
                </a:solidFill>
              </a:rPr>
              <a:t>La marca del club </a:t>
            </a:r>
            <a:pPr indent="0" marL="0">
              <a:spcAft>
                <a:spcPts val="800"/>
              </a:spcAft>
              <a:buNone/>
            </a:pPr>
            <a:r>
              <a:rPr lang="en-US" sz="1600" dirty="0">
                <a:solidFill>
                  <a:schemeClr val="accent5"/>
                </a:solidFill>
              </a:rPr>
              <a:t>(logo i color) a tota la plataforma i als correus</a:t>
            </a:r>
            <a:endParaRPr lang="en-US" sz="16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Dades de menors, protegides</a:t>
            </a:r>
            <a:endParaRPr lang="en-US" sz="2800" dirty="0"/>
          </a:p>
        </p:txBody>
      </p:sp>
      <p:sp>
        <p:nvSpPr>
          <p:cNvPr id="3" name="Seguretat cercle"/>
          <p:cNvSpPr/>
          <p:nvPr/>
        </p:nvSpPr>
        <p:spPr>
          <a:xfrm>
            <a:off x="822960" y="1554480"/>
            <a:ext cx="2194560" cy="2194560"/>
          </a:xfrm>
          <a:prstGeom prst="ellipse">
            <a:avLst/>
          </a:prstGeom>
          <a:solidFill>
            <a:schemeClr val="accent1"/>
          </a:solidFill>
          <a:ln/>
        </p:spPr>
      </p:sp>
      <p:pic>
        <p:nvPicPr>
          <p:cNvPr id="4" name="Seguretat icona" descr="preencoded.png">    </p:cNvPr>
          <p:cNvPicPr>
            <a:picLocks noChangeAspect="1"/>
          </p:cNvPicPr>
          <p:nvPr/>
        </p:nvPicPr>
        <p:blipFill>
          <a:blip r:embed="rId1"/>
          <a:stretch>
            <a:fillRect/>
          </a:stretch>
        </p:blipFill>
        <p:spPr>
          <a:xfrm>
            <a:off x="1371600" y="2103120"/>
            <a:ext cx="1097280" cy="1097280"/>
          </a:xfrm>
          <a:prstGeom prst="rect">
            <a:avLst/>
          </a:prstGeom>
        </p:spPr>
      </p:pic>
      <p:sp>
        <p:nvSpPr>
          <p:cNvPr id="5" name="Text 2"/>
          <p:cNvSpPr txBox="1"/>
          <p:nvPr/>
        </p:nvSpPr>
        <p:spPr>
          <a:xfrm>
            <a:off x="3840480" y="1325880"/>
            <a:ext cx="4754880" cy="320040"/>
          </a:xfrm>
          <a:prstGeom prst="rect">
            <a:avLst/>
          </a:prstGeom>
          <a:noFill/>
          <a:ln/>
        </p:spPr>
        <p:txBody>
          <a:bodyPr wrap="square" lIns="0" tIns="0" rIns="0" bIns="0" rtlCol="0" anchor="t"/>
          <a:lstStyle/>
          <a:p>
            <a:pPr indent="0" marL="0">
              <a:buNone/>
            </a:pPr>
            <a:r>
              <a:rPr lang="en-US" sz="1700" b="1" dirty="0">
                <a:solidFill>
                  <a:schemeClr val="tx1"/>
                </a:solidFill>
              </a:rPr>
              <a:t>Sense contrasenyes</a:t>
            </a:r>
            <a:endParaRPr lang="en-US" sz="1700" dirty="0"/>
          </a:p>
        </p:txBody>
      </p:sp>
      <p:sp>
        <p:nvSpPr>
          <p:cNvPr id="6" name="Text 3"/>
          <p:cNvSpPr txBox="1"/>
          <p:nvPr/>
        </p:nvSpPr>
        <p:spPr>
          <a:xfrm>
            <a:off x="3840480" y="1655064"/>
            <a:ext cx="4754880" cy="320040"/>
          </a:xfrm>
          <a:prstGeom prst="rect">
            <a:avLst/>
          </a:prstGeom>
          <a:noFill/>
          <a:ln/>
        </p:spPr>
        <p:txBody>
          <a:bodyPr wrap="square" lIns="0" tIns="0" rIns="0" bIns="0" rtlCol="0" anchor="t"/>
          <a:lstStyle/>
          <a:p>
            <a:pPr indent="0" marL="0">
              <a:buNone/>
            </a:pPr>
            <a:r>
              <a:rPr lang="en-US" sz="1400" dirty="0">
                <a:solidFill>
                  <a:schemeClr val="accent5"/>
                </a:solidFill>
              </a:rPr>
              <a:t>S’entra amb un enllaç que arriba al correu</a:t>
            </a:r>
            <a:endParaRPr lang="en-US" sz="1400" dirty="0"/>
          </a:p>
        </p:txBody>
      </p:sp>
      <p:sp>
        <p:nvSpPr>
          <p:cNvPr id="7" name="Text 4"/>
          <p:cNvSpPr txBox="1"/>
          <p:nvPr/>
        </p:nvSpPr>
        <p:spPr>
          <a:xfrm>
            <a:off x="3840480" y="2103120"/>
            <a:ext cx="4754880" cy="320040"/>
          </a:xfrm>
          <a:prstGeom prst="rect">
            <a:avLst/>
          </a:prstGeom>
          <a:noFill/>
          <a:ln/>
        </p:spPr>
        <p:txBody>
          <a:bodyPr wrap="square" lIns="0" tIns="0" rIns="0" bIns="0" rtlCol="0" anchor="t"/>
          <a:lstStyle/>
          <a:p>
            <a:pPr indent="0" marL="0">
              <a:buNone/>
            </a:pPr>
            <a:r>
              <a:rPr lang="en-US" sz="1700" b="1" dirty="0">
                <a:solidFill>
                  <a:schemeClr val="tx1"/>
                </a:solidFill>
              </a:rPr>
              <a:t>Cada rol, només el seu</a:t>
            </a:r>
            <a:endParaRPr lang="en-US" sz="1700" dirty="0"/>
          </a:p>
        </p:txBody>
      </p:sp>
      <p:sp>
        <p:nvSpPr>
          <p:cNvPr id="8" name="Text 5"/>
          <p:cNvSpPr txBox="1"/>
          <p:nvPr/>
        </p:nvSpPr>
        <p:spPr>
          <a:xfrm>
            <a:off x="3840480" y="2432304"/>
            <a:ext cx="4754880" cy="320040"/>
          </a:xfrm>
          <a:prstGeom prst="rect">
            <a:avLst/>
          </a:prstGeom>
          <a:noFill/>
          <a:ln/>
        </p:spPr>
        <p:txBody>
          <a:bodyPr wrap="square" lIns="0" tIns="0" rIns="0" bIns="0" rtlCol="0" anchor="t"/>
          <a:lstStyle/>
          <a:p>
            <a:pPr indent="0" marL="0">
              <a:buNone/>
            </a:pPr>
            <a:r>
              <a:rPr lang="en-US" sz="1400" dirty="0">
                <a:solidFill>
                  <a:schemeClr val="accent5"/>
                </a:solidFill>
              </a:rPr>
              <a:t>Ho controla la base de dades, no només la pantalla</a:t>
            </a:r>
            <a:endParaRPr lang="en-US" sz="1400" dirty="0"/>
          </a:p>
        </p:txBody>
      </p:sp>
      <p:sp>
        <p:nvSpPr>
          <p:cNvPr id="9" name="Text 6"/>
          <p:cNvSpPr txBox="1"/>
          <p:nvPr/>
        </p:nvSpPr>
        <p:spPr>
          <a:xfrm>
            <a:off x="3840480" y="2880360"/>
            <a:ext cx="4754880" cy="320040"/>
          </a:xfrm>
          <a:prstGeom prst="rect">
            <a:avLst/>
          </a:prstGeom>
          <a:noFill/>
          <a:ln/>
        </p:spPr>
        <p:txBody>
          <a:bodyPr wrap="square" lIns="0" tIns="0" rIns="0" bIns="0" rtlCol="0" anchor="t"/>
          <a:lstStyle/>
          <a:p>
            <a:pPr indent="0" marL="0">
              <a:buNone/>
            </a:pPr>
            <a:r>
              <a:rPr lang="en-US" sz="1700" b="1" dirty="0">
                <a:solidFill>
                  <a:schemeClr val="tx1"/>
                </a:solidFill>
              </a:rPr>
              <a:t>Famílies</a:t>
            </a:r>
            <a:endParaRPr lang="en-US" sz="1700" dirty="0"/>
          </a:p>
        </p:txBody>
      </p:sp>
      <p:sp>
        <p:nvSpPr>
          <p:cNvPr id="10" name="Text 7"/>
          <p:cNvSpPr txBox="1"/>
          <p:nvPr/>
        </p:nvSpPr>
        <p:spPr>
          <a:xfrm>
            <a:off x="3840480" y="3209544"/>
            <a:ext cx="4754880" cy="320040"/>
          </a:xfrm>
          <a:prstGeom prst="rect">
            <a:avLst/>
          </a:prstGeom>
          <a:noFill/>
          <a:ln/>
        </p:spPr>
        <p:txBody>
          <a:bodyPr wrap="square" lIns="0" tIns="0" rIns="0" bIns="0" rtlCol="0" anchor="t"/>
          <a:lstStyle/>
          <a:p>
            <a:pPr indent="0" marL="0">
              <a:buNone/>
            </a:pPr>
            <a:r>
              <a:rPr lang="en-US" sz="1400" dirty="0">
                <a:solidFill>
                  <a:schemeClr val="accent5"/>
                </a:solidFill>
              </a:rPr>
              <a:t>Només veuen els seus fills</a:t>
            </a:r>
            <a:endParaRPr lang="en-US" sz="1400" dirty="0"/>
          </a:p>
        </p:txBody>
      </p:sp>
      <p:sp>
        <p:nvSpPr>
          <p:cNvPr id="11" name="Text 8"/>
          <p:cNvSpPr txBox="1"/>
          <p:nvPr/>
        </p:nvSpPr>
        <p:spPr>
          <a:xfrm>
            <a:off x="3840480" y="3657600"/>
            <a:ext cx="4754880" cy="320040"/>
          </a:xfrm>
          <a:prstGeom prst="rect">
            <a:avLst/>
          </a:prstGeom>
          <a:noFill/>
          <a:ln/>
        </p:spPr>
        <p:txBody>
          <a:bodyPr wrap="square" lIns="0" tIns="0" rIns="0" bIns="0" rtlCol="0" anchor="t"/>
          <a:lstStyle/>
          <a:p>
            <a:pPr indent="0" marL="0">
              <a:buNone/>
            </a:pPr>
            <a:r>
              <a:rPr lang="en-US" sz="1700" b="1" dirty="0">
                <a:solidFill>
                  <a:schemeClr val="tx1"/>
                </a:solidFill>
              </a:rPr>
              <a:t>Pensat per al RGPD</a:t>
            </a:r>
            <a:endParaRPr lang="en-US" sz="1700" dirty="0"/>
          </a:p>
        </p:txBody>
      </p:sp>
      <p:sp>
        <p:nvSpPr>
          <p:cNvPr id="12" name="Text 9"/>
          <p:cNvSpPr txBox="1"/>
          <p:nvPr/>
        </p:nvSpPr>
        <p:spPr>
          <a:xfrm>
            <a:off x="3840480" y="3986784"/>
            <a:ext cx="4754880" cy="320040"/>
          </a:xfrm>
          <a:prstGeom prst="rect">
            <a:avLst/>
          </a:prstGeom>
          <a:noFill/>
          <a:ln/>
        </p:spPr>
        <p:txBody>
          <a:bodyPr wrap="square" lIns="0" tIns="0" rIns="0" bIns="0" rtlCol="0" anchor="t"/>
          <a:lstStyle/>
          <a:p>
            <a:pPr indent="0" marL="0">
              <a:buNone/>
            </a:pPr>
            <a:r>
              <a:rPr lang="en-US" sz="1400" dirty="0">
                <a:solidFill>
                  <a:schemeClr val="accent5"/>
                </a:solidFill>
              </a:rPr>
              <a:t>Accés limitat a qui el necessita</a:t>
            </a:r>
            <a:endParaRPr lang="en-US" sz="14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En marxa en quatre passos</a:t>
            </a:r>
            <a:endParaRPr lang="en-US" sz="2800" dirty="0"/>
          </a:p>
        </p:txBody>
      </p:sp>
      <p:sp>
        <p:nvSpPr>
          <p:cNvPr id="3" name="Línia de passos"/>
          <p:cNvSpPr/>
          <p:nvPr/>
        </p:nvSpPr>
        <p:spPr>
          <a:xfrm>
            <a:off x="914400" y="2194560"/>
            <a:ext cx="6400800" cy="0"/>
          </a:xfrm>
          <a:prstGeom prst="line">
            <a:avLst/>
          </a:prstGeom>
          <a:noFill/>
          <a:ln w="38100">
            <a:solidFill>
              <a:schemeClr val="accent6"/>
            </a:solidFill>
            <a:prstDash val="solid"/>
          </a:ln>
        </p:spPr>
      </p:sp>
      <p:sp>
        <p:nvSpPr>
          <p:cNvPr id="4" name="Pas 1"/>
          <p:cNvSpPr/>
          <p:nvPr/>
        </p:nvSpPr>
        <p:spPr>
          <a:xfrm>
            <a:off x="594360" y="1828800"/>
            <a:ext cx="731520" cy="731520"/>
          </a:xfrm>
          <a:prstGeom prst="ellipse">
            <a:avLst/>
          </a:prstGeom>
          <a:solidFill>
            <a:schemeClr val="accent1"/>
          </a:solidFill>
          <a:ln w="38100">
            <a:solidFill>
              <a:schemeClr val="bg1"/>
            </a:solidFill>
            <a:prstDash val="solid"/>
          </a:ln>
        </p:spPr>
      </p:sp>
      <p:sp>
        <p:nvSpPr>
          <p:cNvPr id="5" name="Text 3"/>
          <p:cNvSpPr txBox="1"/>
          <p:nvPr/>
        </p:nvSpPr>
        <p:spPr>
          <a:xfrm>
            <a:off x="594360"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1</a:t>
            </a:r>
            <a:endParaRPr lang="en-US" sz="2400" dirty="0"/>
          </a:p>
        </p:txBody>
      </p:sp>
      <p:sp>
        <p:nvSpPr>
          <p:cNvPr id="6" name="Text 4"/>
          <p:cNvSpPr txBox="1"/>
          <p:nvPr/>
        </p:nvSpPr>
        <p:spPr>
          <a:xfrm>
            <a:off x="548640" y="2834640"/>
            <a:ext cx="1874520" cy="365760"/>
          </a:xfrm>
          <a:prstGeom prst="rect">
            <a:avLst/>
          </a:prstGeom>
          <a:noFill/>
          <a:ln/>
        </p:spPr>
        <p:txBody>
          <a:bodyPr wrap="square" lIns="0" tIns="0" rIns="0" bIns="0" rtlCol="0" anchor="t"/>
          <a:lstStyle/>
          <a:p>
            <a:pPr indent="0" marL="0">
              <a:buNone/>
            </a:pPr>
            <a:r>
              <a:rPr lang="en-US" sz="1700" b="1" dirty="0">
                <a:solidFill>
                  <a:schemeClr val="tx1"/>
                </a:solidFill>
              </a:rPr>
              <a:t>Alta del club</a:t>
            </a:r>
            <a:endParaRPr lang="en-US" sz="1700" dirty="0"/>
          </a:p>
        </p:txBody>
      </p:sp>
      <p:sp>
        <p:nvSpPr>
          <p:cNvPr id="7" name="Text 5"/>
          <p:cNvSpPr txBox="1"/>
          <p:nvPr/>
        </p:nvSpPr>
        <p:spPr>
          <a:xfrm>
            <a:off x="548640" y="3246120"/>
            <a:ext cx="1828800" cy="822960"/>
          </a:xfrm>
          <a:prstGeom prst="rect">
            <a:avLst/>
          </a:prstGeom>
          <a:noFill/>
          <a:ln/>
        </p:spPr>
        <p:txBody>
          <a:bodyPr wrap="square" lIns="0" tIns="0" rIns="0" bIns="0" rtlCol="0" anchor="t"/>
          <a:lstStyle/>
          <a:p>
            <a:pPr indent="0" marL="0">
              <a:buNone/>
            </a:pPr>
            <a:r>
              <a:rPr lang="en-US" sz="1400" dirty="0">
                <a:solidFill>
                  <a:schemeClr val="accent5"/>
                </a:solidFill>
              </a:rPr>
              <a:t>Logo, colors i instal·lacions</a:t>
            </a:r>
            <a:endParaRPr lang="en-US" sz="1400" dirty="0"/>
          </a:p>
        </p:txBody>
      </p:sp>
      <p:sp>
        <p:nvSpPr>
          <p:cNvPr id="8" name="Pas 2"/>
          <p:cNvSpPr/>
          <p:nvPr/>
        </p:nvSpPr>
        <p:spPr>
          <a:xfrm>
            <a:off x="2670048" y="1828800"/>
            <a:ext cx="731520" cy="731520"/>
          </a:xfrm>
          <a:prstGeom prst="ellipse">
            <a:avLst/>
          </a:prstGeom>
          <a:solidFill>
            <a:schemeClr val="accent1"/>
          </a:solidFill>
          <a:ln w="38100">
            <a:solidFill>
              <a:schemeClr val="bg1"/>
            </a:solidFill>
            <a:prstDash val="solid"/>
          </a:ln>
        </p:spPr>
      </p:sp>
      <p:sp>
        <p:nvSpPr>
          <p:cNvPr id="9" name="Text 7"/>
          <p:cNvSpPr txBox="1"/>
          <p:nvPr/>
        </p:nvSpPr>
        <p:spPr>
          <a:xfrm>
            <a:off x="2670048"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2</a:t>
            </a:r>
            <a:endParaRPr lang="en-US" sz="2400" dirty="0"/>
          </a:p>
        </p:txBody>
      </p:sp>
      <p:sp>
        <p:nvSpPr>
          <p:cNvPr id="10" name="Text 8"/>
          <p:cNvSpPr txBox="1"/>
          <p:nvPr/>
        </p:nvSpPr>
        <p:spPr>
          <a:xfrm>
            <a:off x="2624328" y="2834640"/>
            <a:ext cx="1874520" cy="365760"/>
          </a:xfrm>
          <a:prstGeom prst="rect">
            <a:avLst/>
          </a:prstGeom>
          <a:noFill/>
          <a:ln/>
        </p:spPr>
        <p:txBody>
          <a:bodyPr wrap="square" lIns="0" tIns="0" rIns="0" bIns="0" rtlCol="0" anchor="t"/>
          <a:lstStyle/>
          <a:p>
            <a:pPr indent="0" marL="0">
              <a:buNone/>
            </a:pPr>
            <a:r>
              <a:rPr lang="en-US" sz="1700" b="1" dirty="0">
                <a:solidFill>
                  <a:schemeClr val="tx1"/>
                </a:solidFill>
              </a:rPr>
              <a:t>Equips i jugadors</a:t>
            </a:r>
            <a:endParaRPr lang="en-US" sz="1700" dirty="0"/>
          </a:p>
        </p:txBody>
      </p:sp>
      <p:sp>
        <p:nvSpPr>
          <p:cNvPr id="11" name="Text 9"/>
          <p:cNvSpPr txBox="1"/>
          <p:nvPr/>
        </p:nvSpPr>
        <p:spPr>
          <a:xfrm>
            <a:off x="2624328" y="3246120"/>
            <a:ext cx="1828800" cy="822960"/>
          </a:xfrm>
          <a:prstGeom prst="rect">
            <a:avLst/>
          </a:prstGeom>
          <a:noFill/>
          <a:ln/>
        </p:spPr>
        <p:txBody>
          <a:bodyPr wrap="square" lIns="0" tIns="0" rIns="0" bIns="0" rtlCol="0" anchor="t"/>
          <a:lstStyle/>
          <a:p>
            <a:pPr indent="0" marL="0">
              <a:buNone/>
            </a:pPr>
            <a:r>
              <a:rPr lang="en-US" sz="1400" dirty="0">
                <a:solidFill>
                  <a:schemeClr val="accent5"/>
                </a:solidFill>
              </a:rPr>
              <a:t>Alta massiva enganxant una llista</a:t>
            </a:r>
            <a:endParaRPr lang="en-US" sz="1400" dirty="0"/>
          </a:p>
        </p:txBody>
      </p:sp>
      <p:sp>
        <p:nvSpPr>
          <p:cNvPr id="12" name="Pas 3"/>
          <p:cNvSpPr/>
          <p:nvPr/>
        </p:nvSpPr>
        <p:spPr>
          <a:xfrm>
            <a:off x="4745736" y="1828800"/>
            <a:ext cx="731520" cy="731520"/>
          </a:xfrm>
          <a:prstGeom prst="ellipse">
            <a:avLst/>
          </a:prstGeom>
          <a:solidFill>
            <a:schemeClr val="accent1"/>
          </a:solidFill>
          <a:ln w="38100">
            <a:solidFill>
              <a:schemeClr val="bg1"/>
            </a:solidFill>
            <a:prstDash val="solid"/>
          </a:ln>
        </p:spPr>
      </p:sp>
      <p:sp>
        <p:nvSpPr>
          <p:cNvPr id="13" name="Text 11"/>
          <p:cNvSpPr txBox="1"/>
          <p:nvPr/>
        </p:nvSpPr>
        <p:spPr>
          <a:xfrm>
            <a:off x="4745736"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3</a:t>
            </a:r>
            <a:endParaRPr lang="en-US" sz="2400" dirty="0"/>
          </a:p>
        </p:txBody>
      </p:sp>
      <p:sp>
        <p:nvSpPr>
          <p:cNvPr id="14" name="Text 12"/>
          <p:cNvSpPr txBox="1"/>
          <p:nvPr/>
        </p:nvSpPr>
        <p:spPr>
          <a:xfrm>
            <a:off x="4700016" y="2834640"/>
            <a:ext cx="1874520" cy="365760"/>
          </a:xfrm>
          <a:prstGeom prst="rect">
            <a:avLst/>
          </a:prstGeom>
          <a:noFill/>
          <a:ln/>
        </p:spPr>
        <p:txBody>
          <a:bodyPr wrap="square" lIns="0" tIns="0" rIns="0" bIns="0" rtlCol="0" anchor="t"/>
          <a:lstStyle/>
          <a:p>
            <a:pPr indent="0" marL="0">
              <a:buNone/>
            </a:pPr>
            <a:r>
              <a:rPr lang="en-US" sz="1700" b="1" dirty="0">
                <a:solidFill>
                  <a:schemeClr val="tx1"/>
                </a:solidFill>
              </a:rPr>
              <a:t>Entrenadors</a:t>
            </a:r>
            <a:endParaRPr lang="en-US" sz="1700" dirty="0"/>
          </a:p>
        </p:txBody>
      </p:sp>
      <p:sp>
        <p:nvSpPr>
          <p:cNvPr id="15" name="Text 13"/>
          <p:cNvSpPr txBox="1"/>
          <p:nvPr/>
        </p:nvSpPr>
        <p:spPr>
          <a:xfrm>
            <a:off x="4700016" y="3246120"/>
            <a:ext cx="1828800" cy="822960"/>
          </a:xfrm>
          <a:prstGeom prst="rect">
            <a:avLst/>
          </a:prstGeom>
          <a:noFill/>
          <a:ln/>
        </p:spPr>
        <p:txBody>
          <a:bodyPr wrap="square" lIns="0" tIns="0" rIns="0" bIns="0" rtlCol="0" anchor="t"/>
          <a:lstStyle/>
          <a:p>
            <a:pPr indent="0" marL="0">
              <a:buNone/>
            </a:pPr>
            <a:r>
              <a:rPr lang="en-US" sz="1400" dirty="0">
                <a:solidFill>
                  <a:schemeClr val="accent5"/>
                </a:solidFill>
              </a:rPr>
              <a:t>Invitació per correu, sense contrasenyes</a:t>
            </a:r>
            <a:endParaRPr lang="en-US" sz="1400" dirty="0"/>
          </a:p>
        </p:txBody>
      </p:sp>
      <p:sp>
        <p:nvSpPr>
          <p:cNvPr id="16" name="Pas 4"/>
          <p:cNvSpPr/>
          <p:nvPr/>
        </p:nvSpPr>
        <p:spPr>
          <a:xfrm>
            <a:off x="6821424" y="1828800"/>
            <a:ext cx="731520" cy="731520"/>
          </a:xfrm>
          <a:prstGeom prst="ellipse">
            <a:avLst/>
          </a:prstGeom>
          <a:solidFill>
            <a:schemeClr val="accent1"/>
          </a:solidFill>
          <a:ln w="38100">
            <a:solidFill>
              <a:schemeClr val="bg1"/>
            </a:solidFill>
            <a:prstDash val="solid"/>
          </a:ln>
        </p:spPr>
      </p:sp>
      <p:sp>
        <p:nvSpPr>
          <p:cNvPr id="17" name="Text 15"/>
          <p:cNvSpPr txBox="1"/>
          <p:nvPr/>
        </p:nvSpPr>
        <p:spPr>
          <a:xfrm>
            <a:off x="6821424"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4</a:t>
            </a:r>
            <a:endParaRPr lang="en-US" sz="2400" dirty="0"/>
          </a:p>
        </p:txBody>
      </p:sp>
      <p:sp>
        <p:nvSpPr>
          <p:cNvPr id="18" name="Text 16"/>
          <p:cNvSpPr txBox="1"/>
          <p:nvPr/>
        </p:nvSpPr>
        <p:spPr>
          <a:xfrm>
            <a:off x="6775704" y="2834640"/>
            <a:ext cx="1874520" cy="365760"/>
          </a:xfrm>
          <a:prstGeom prst="rect">
            <a:avLst/>
          </a:prstGeom>
          <a:noFill/>
          <a:ln/>
        </p:spPr>
        <p:txBody>
          <a:bodyPr wrap="square" lIns="0" tIns="0" rIns="0" bIns="0" rtlCol="0" anchor="t"/>
          <a:lstStyle/>
          <a:p>
            <a:pPr indent="0" marL="0">
              <a:buNone/>
            </a:pPr>
            <a:r>
              <a:rPr lang="en-US" sz="1700" b="1" dirty="0">
                <a:solidFill>
                  <a:schemeClr val="tx1"/>
                </a:solidFill>
              </a:rPr>
              <a:t>Famílies</a:t>
            </a:r>
            <a:endParaRPr lang="en-US" sz="1700" dirty="0"/>
          </a:p>
        </p:txBody>
      </p:sp>
      <p:sp>
        <p:nvSpPr>
          <p:cNvPr id="19" name="Text 17"/>
          <p:cNvSpPr txBox="1"/>
          <p:nvPr/>
        </p:nvSpPr>
        <p:spPr>
          <a:xfrm>
            <a:off x="6775704" y="3246120"/>
            <a:ext cx="1828800" cy="822960"/>
          </a:xfrm>
          <a:prstGeom prst="rect">
            <a:avLst/>
          </a:prstGeom>
          <a:noFill/>
          <a:ln/>
        </p:spPr>
        <p:txBody>
          <a:bodyPr wrap="square" lIns="0" tIns="0" rIns="0" bIns="0" rtlCol="0" anchor="t"/>
          <a:lstStyle/>
          <a:p>
            <a:pPr indent="0" marL="0">
              <a:buNone/>
            </a:pPr>
            <a:r>
              <a:rPr lang="en-US" sz="1400" dirty="0">
                <a:solidFill>
                  <a:schemeClr val="accent5"/>
                </a:solidFill>
              </a:rPr>
              <a:t>Vinculades des de la fitxa del jugador</a:t>
            </a:r>
            <a:endParaRPr lang="en-US" sz="1400" dirty="0"/>
          </a:p>
        </p:txBody>
      </p:sp>
      <p:sp>
        <p:nvSpPr>
          <p:cNvPr id="25" name="Slide Number Placeholder 0"/>
          <p:cNvSpPr>
            <a:spLocks noGrp="1"/>
          </p:cNvSpPr>
          <p:nvPr>
            <p:ph type="sldNum" sz="quarter" idx="4294967295"/>
          </p:nvPr>
        </p:nvSpPr>
        <p:spPr>
          <a:xfrm>
            <a:off x="8229600" y="475488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1600200"/>
            <a:ext cx="7680960" cy="1554480"/>
          </a:xfrm>
          <a:prstGeom prst="rect">
            <a:avLst/>
          </a:prstGeom>
          <a:noFill/>
          <a:ln/>
        </p:spPr>
        <p:txBody>
          <a:bodyPr wrap="square" lIns="0" tIns="0" rIns="0" bIns="0" rtlCol="0" anchor="b"/>
          <a:lstStyle/>
          <a:p>
            <a:pPr algn="l" indent="0" marL="0">
              <a:buNone/>
            </a:pPr>
            <a:r>
              <a:rPr lang="en-US" sz="4000" b="1" dirty="0">
                <a:solidFill>
                  <a:schemeClr val="bg1"/>
                </a:solidFill>
              </a:rPr>
              <a:t>Comencem amb el teu club</a:t>
            </a:r>
            <a:endParaRPr lang="en-US" sz="4000" dirty="0"/>
          </a:p>
        </p:txBody>
      </p:sp>
      <p:sp>
        <p:nvSpPr>
          <p:cNvPr id="3" name="Text 1"/>
          <p:cNvSpPr/>
          <p:nvPr>
            <p:ph idx="103" type="body" hasCustomPrompt="1"/>
          </p:nvPr>
        </p:nvSpPr>
        <p:spPr>
          <a:xfrm>
            <a:off x="548640" y="3291840"/>
            <a:ext cx="7680960" cy="1005840"/>
          </a:xfrm>
          <a:prstGeom prst="rect">
            <a:avLst/>
          </a:prstGeom>
          <a:noFill/>
          <a:ln/>
        </p:spPr>
        <p:txBody>
          <a:bodyPr wrap="square" lIns="0" tIns="0" rIns="0" bIns="0" rtlCol="0" anchor="t"/>
          <a:lstStyle/>
          <a:p>
            <a:pPr algn="l" indent="0" marL="0">
              <a:buNone/>
            </a:pPr>
            <a:r>
              <a:rPr lang="en-US" sz="1600" dirty="0">
                <a:solidFill>
                  <a:schemeClr val="accent2"/>
                </a:solidFill>
              </a:rPr>
              <a:t>Fase pilot: accés complet gratuït</a:t>
            </a:r>
            <a:endParaRPr lang="en-US" sz="1600" dirty="0"/>
          </a:p>
          <a:p>
            <a:pPr algn="l" indent="0" marL="0">
              <a:buNone/>
            </a:pPr>
            <a:r>
              <a:rPr lang="en-US" sz="1600" dirty="0">
                <a:solidFill>
                  <a:schemeClr val="bg1"/>
                </a:solidFill>
              </a:rPr>
              <a:t>hola.planter@gmail.com</a:t>
            </a:r>
            <a:endParaRPr lang="en-US" sz="1600" dirty="0"/>
          </a:p>
        </p:txBody>
      </p:sp>
    </p:spTree>
  </p:cSld>
  <p:clrMapOvr>
    <a:masterClrMapping/>
  </p:clrMapOvr>
</p:sld>
</file>

<file path=ppt/theme/theme1.xml><?xml version="1.0" encoding="utf-8"?>
<a:theme xmlns:a="http://schemas.openxmlformats.org/drawingml/2006/main" name="Planter">
  <a:themeElements>
    <a:clrScheme name="Planter">
      <a:dk1>
        <a:srgbClr val="0F1E17"/>
      </a:dk1>
      <a:lt1>
        <a:srgbClr val="FFFFFF"/>
      </a:lt1>
      <a:dk2>
        <a:srgbClr val="16211A"/>
      </a:dk2>
      <a:lt2>
        <a:srgbClr val="F3F5F0"/>
      </a:lt2>
      <a:accent1>
        <a:srgbClr val="2E9E5B"/>
      </a:accent1>
      <a:accent2>
        <a:srgbClr val="4FCB80"/>
      </a:accent2>
      <a:accent3>
        <a:srgbClr val="E39A2E"/>
      </a:accent3>
      <a:accent4>
        <a:srgbClr val="D65050"/>
      </a:accent4>
      <a:accent5>
        <a:srgbClr val="5D6B61"/>
      </a:accent5>
      <a:accent6>
        <a:srgbClr val="E8F4EC"/>
      </a:accent6>
      <a:hlink>
        <a:srgbClr val="237744"/>
      </a:hlink>
      <a:folHlink>
        <a:srgbClr val="237744"/>
      </a:folHlink>
    </a:clrScheme>
    <a:fontScheme name="Plant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Planter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Planter · Presentació per a clubs</dc:title>
  <dc:subject>Presentació comercial</dc:subject>
  <dc:creator>Planter</dc:creator>
  <cp:lastModifiedBy>Planter</cp:lastModifiedBy>
  <cp:revision>1</cp:revision>
  <dcterms:created xsi:type="dcterms:W3CDTF">2026-10-10T11:13:13Z</dcterms:created>
  <dcterms:modified xsi:type="dcterms:W3CDTF">2026-10-10T11:13:13Z</dcterms:modified>
</cp:coreProperties>
</file>